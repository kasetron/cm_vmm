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6858000" cy="9144000"/>
  <p:embeddedFontLst>
    <p:embeddedFont>
      <p:font typeface="Raleway"/>
      <p:regular r:id="rId23"/>
      <p:bold r:id="rId24"/>
      <p:italic r:id="rId25"/>
      <p:boldItalic r:id="rId26"/>
    </p:embeddedFont>
    <p:embeddedFont>
      <p:font typeface="Anaheim"/>
      <p:regular r:id="rId27"/>
      <p:bold r:id="rId28"/>
    </p:embeddedFont>
    <p:embeddedFont>
      <p:font typeface="DM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Raleway-bold.fntdata"/><Relationship Id="rId23" Type="http://schemas.openxmlformats.org/officeDocument/2006/relationships/font" Target="fonts/Raleway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aleway-boldItalic.fntdata"/><Relationship Id="rId25" Type="http://schemas.openxmlformats.org/officeDocument/2006/relationships/font" Target="fonts/Raleway-italic.fntdata"/><Relationship Id="rId28" Type="http://schemas.openxmlformats.org/officeDocument/2006/relationships/font" Target="fonts/Anaheim-bold.fntdata"/><Relationship Id="rId27" Type="http://schemas.openxmlformats.org/officeDocument/2006/relationships/font" Target="fonts/Anaheim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DMSans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DMSans-italic.fntdata"/><Relationship Id="rId30" Type="http://schemas.openxmlformats.org/officeDocument/2006/relationships/font" Target="fonts/DMSans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schemas.openxmlformats.org/officeDocument/2006/relationships/font" Target="fonts/DMSans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5ebfc787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5ebfc787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5ebfc78785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25ebfc78785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5f3373e319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5f3373e319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 come mai si può dire che gamma fa solo il rapporto degli R (ovvero perchè Cv = Cx e Rv = Rx)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5e3eda2fb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5e3eda2fb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2d9cad5e148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2d9cad5e148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b6a3101308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b6a3101308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b6a3101308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b6a310130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b6a3101308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b6a3101308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b6a3101308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b6a3101308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b6a3101308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b6a3101308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b6a3101308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b6a3101308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2d9cad5e148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2d9cad5e148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b6a3101308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b6a3101308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b6a3101308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b6a3101308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2bd570faf89_1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2bd570faf89_1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b6a3101308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b6a3101308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b6a3101308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b6a3101308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b6a3101308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b6a3101308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FFFFFF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713225" y="573725"/>
            <a:ext cx="4329000" cy="202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713225" y="2562925"/>
            <a:ext cx="2617200" cy="6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0" y="-13375"/>
            <a:ext cx="713100" cy="2736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0" y="4604000"/>
            <a:ext cx="9144000" cy="5568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546434" y="48637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2"/>
          <p:cNvSpPr txBox="1"/>
          <p:nvPr/>
        </p:nvSpPr>
        <p:spPr>
          <a:xfrm>
            <a:off x="49700" y="4760600"/>
            <a:ext cx="671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DM Sans"/>
                <a:ea typeface="DM Sans"/>
                <a:cs typeface="DM Sans"/>
                <a:sym typeface="DM Sans"/>
              </a:rPr>
              <a:t>Circuiti e Dispositivi Neuromorfici</a:t>
            </a:r>
            <a:r>
              <a:rPr b="1" lang="en">
                <a:latin typeface="DM Sans"/>
                <a:ea typeface="DM Sans"/>
                <a:cs typeface="DM Sans"/>
                <a:sym typeface="DM Sans"/>
              </a:rPr>
              <a:t> A.A. 2025-26  -  Alessio Fontana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713225" y="1850975"/>
            <a:ext cx="3694200" cy="151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hasCustomPrompt="1" idx="2" type="title"/>
          </p:nvPr>
        </p:nvSpPr>
        <p:spPr>
          <a:xfrm>
            <a:off x="713225" y="784325"/>
            <a:ext cx="1225800" cy="915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713225" y="3360725"/>
            <a:ext cx="2549100" cy="6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/>
          <p:nvPr/>
        </p:nvSpPr>
        <p:spPr>
          <a:xfrm>
            <a:off x="0" y="4604000"/>
            <a:ext cx="9144000" cy="55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3"/>
          <p:cNvSpPr txBox="1"/>
          <p:nvPr/>
        </p:nvSpPr>
        <p:spPr>
          <a:xfrm>
            <a:off x="0" y="4760600"/>
            <a:ext cx="671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Circuiti e Dispositivi Neuromorfici A.A. 2025-26  -  Alessio Fontana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720000" y="1215750"/>
            <a:ext cx="3971700" cy="16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0" y="4760600"/>
            <a:ext cx="671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Circuiti e Dispositivi Neuromorfici A.A. 2025-26  -  Alessio Fontana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subTitle"/>
          </p:nvPr>
        </p:nvSpPr>
        <p:spPr>
          <a:xfrm>
            <a:off x="5055284" y="3612378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2" name="Google Shape;32;p5"/>
          <p:cNvSpPr txBox="1"/>
          <p:nvPr>
            <p:ph idx="2" type="subTitle"/>
          </p:nvPr>
        </p:nvSpPr>
        <p:spPr>
          <a:xfrm>
            <a:off x="1583300" y="3612378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3" name="Google Shape;33;p5"/>
          <p:cNvSpPr txBox="1"/>
          <p:nvPr>
            <p:ph idx="3" type="subTitle"/>
          </p:nvPr>
        </p:nvSpPr>
        <p:spPr>
          <a:xfrm>
            <a:off x="50552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4" type="subTitle"/>
          </p:nvPr>
        </p:nvSpPr>
        <p:spPr>
          <a:xfrm>
            <a:off x="15830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5" name="Google Shape;35;p5"/>
          <p:cNvSpPr/>
          <p:nvPr/>
        </p:nvSpPr>
        <p:spPr>
          <a:xfrm>
            <a:off x="0" y="4878150"/>
            <a:ext cx="9144000" cy="28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5"/>
          <p:cNvSpPr txBox="1"/>
          <p:nvPr/>
        </p:nvSpPr>
        <p:spPr>
          <a:xfrm>
            <a:off x="99400" y="4819350"/>
            <a:ext cx="671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Circuiti e Dispositivi Neuromorfici A.A. 2025-26  -  Alessio Fontana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6"/>
          <p:cNvSpPr/>
          <p:nvPr/>
        </p:nvSpPr>
        <p:spPr>
          <a:xfrm>
            <a:off x="0" y="4878150"/>
            <a:ext cx="9144000" cy="28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8595309" y="48326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6"/>
          <p:cNvSpPr txBox="1"/>
          <p:nvPr/>
        </p:nvSpPr>
        <p:spPr>
          <a:xfrm>
            <a:off x="99400" y="4819350"/>
            <a:ext cx="671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Circuiti e Dispositivi Neuromorfici A.A. 2025-26  -  Alessio Fontana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subTitle"/>
          </p:nvPr>
        </p:nvSpPr>
        <p:spPr>
          <a:xfrm>
            <a:off x="720000" y="1700300"/>
            <a:ext cx="42948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46" name="Google Shape;46;p7"/>
          <p:cNvSpPr/>
          <p:nvPr/>
        </p:nvSpPr>
        <p:spPr>
          <a:xfrm>
            <a:off x="0" y="4604000"/>
            <a:ext cx="9144000" cy="55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7"/>
          <p:cNvSpPr/>
          <p:nvPr/>
        </p:nvSpPr>
        <p:spPr>
          <a:xfrm>
            <a:off x="0" y="-13375"/>
            <a:ext cx="713100" cy="27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7"/>
          <p:cNvSpPr txBox="1"/>
          <p:nvPr/>
        </p:nvSpPr>
        <p:spPr>
          <a:xfrm>
            <a:off x="0" y="4760600"/>
            <a:ext cx="671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Circuiti e Dispositivi Neuromorfici A.A. 2025-26  -  Alessio Fontana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713225" y="1619425"/>
            <a:ext cx="4264200" cy="183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2" name="Google Shape;52;p8"/>
          <p:cNvSpPr/>
          <p:nvPr/>
        </p:nvSpPr>
        <p:spPr>
          <a:xfrm>
            <a:off x="0" y="4604000"/>
            <a:ext cx="9144000" cy="55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0" y="4760600"/>
            <a:ext cx="671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Circuiti e Dispositivi Neuromorfici A.A. 2025-26  -  Alessio Fontana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title"/>
          </p:nvPr>
        </p:nvSpPr>
        <p:spPr>
          <a:xfrm>
            <a:off x="4648200" y="1065375"/>
            <a:ext cx="37857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" type="subTitle"/>
          </p:nvPr>
        </p:nvSpPr>
        <p:spPr>
          <a:xfrm>
            <a:off x="4648200" y="2226800"/>
            <a:ext cx="3785700" cy="9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/>
          <p:nvPr/>
        </p:nvSpPr>
        <p:spPr>
          <a:xfrm>
            <a:off x="0" y="4604000"/>
            <a:ext cx="9144000" cy="55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9"/>
          <p:cNvSpPr/>
          <p:nvPr/>
        </p:nvSpPr>
        <p:spPr>
          <a:xfrm>
            <a:off x="0" y="-13375"/>
            <a:ext cx="713100" cy="27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9"/>
          <p:cNvSpPr txBox="1"/>
          <p:nvPr/>
        </p:nvSpPr>
        <p:spPr>
          <a:xfrm>
            <a:off x="0" y="4760600"/>
            <a:ext cx="671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Circuiti e Dispositivi Neuromorfici A.A. 2025-26  -  Alessio Fontana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title"/>
          </p:nvPr>
        </p:nvSpPr>
        <p:spPr>
          <a:xfrm>
            <a:off x="720000" y="448056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0"/>
          <p:cNvSpPr txBox="1"/>
          <p:nvPr/>
        </p:nvSpPr>
        <p:spPr>
          <a:xfrm>
            <a:off x="0" y="4760600"/>
            <a:ext cx="671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Circuiti e Dispositivi Neuromorfici A.A. 2025-26  -  Alessio Fontana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>
            <p:ph hasCustomPrompt="1" type="title"/>
          </p:nvPr>
        </p:nvSpPr>
        <p:spPr>
          <a:xfrm>
            <a:off x="2110200" y="1714500"/>
            <a:ext cx="4923600" cy="105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9" name="Google Shape;69;p11"/>
          <p:cNvSpPr txBox="1"/>
          <p:nvPr>
            <p:ph idx="1" type="subTitle"/>
          </p:nvPr>
        </p:nvSpPr>
        <p:spPr>
          <a:xfrm>
            <a:off x="2110200" y="2774100"/>
            <a:ext cx="49236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70" name="Google Shape;70;p11"/>
          <p:cNvSpPr/>
          <p:nvPr/>
        </p:nvSpPr>
        <p:spPr>
          <a:xfrm>
            <a:off x="0" y="4604000"/>
            <a:ext cx="9144000" cy="55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11"/>
          <p:cNvSpPr txBox="1"/>
          <p:nvPr/>
        </p:nvSpPr>
        <p:spPr>
          <a:xfrm>
            <a:off x="0" y="4760600"/>
            <a:ext cx="671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Circuiti e Dispositivi Neuromorfici A.A. 2025-26  -  Alessio Fontana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2"/>
          <p:cNvSpPr txBox="1"/>
          <p:nvPr/>
        </p:nvSpPr>
        <p:spPr>
          <a:xfrm>
            <a:off x="0" y="4760600"/>
            <a:ext cx="671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Circuiti e Dispositivi Neuromorfici A.A. 2025-26  -  Alessio Fontana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" type="subTitle"/>
          </p:nvPr>
        </p:nvSpPr>
        <p:spPr>
          <a:xfrm>
            <a:off x="1528500" y="2006428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hasCustomPrompt="1" idx="2" type="title"/>
          </p:nvPr>
        </p:nvSpPr>
        <p:spPr>
          <a:xfrm>
            <a:off x="720000" y="1485900"/>
            <a:ext cx="808500" cy="651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4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/>
          <p:nvPr>
            <p:ph idx="3" type="subTitle"/>
          </p:nvPr>
        </p:nvSpPr>
        <p:spPr>
          <a:xfrm>
            <a:off x="1528500" y="1562100"/>
            <a:ext cx="2579100" cy="53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1" name="Google Shape;81;p13"/>
          <p:cNvSpPr txBox="1"/>
          <p:nvPr>
            <p:ph idx="4" type="subTitle"/>
          </p:nvPr>
        </p:nvSpPr>
        <p:spPr>
          <a:xfrm>
            <a:off x="1528500" y="3491628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hasCustomPrompt="1" idx="5" type="title"/>
          </p:nvPr>
        </p:nvSpPr>
        <p:spPr>
          <a:xfrm>
            <a:off x="720000" y="2971100"/>
            <a:ext cx="808500" cy="651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4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/>
          <p:nvPr>
            <p:ph idx="6" type="subTitle"/>
          </p:nvPr>
        </p:nvSpPr>
        <p:spPr>
          <a:xfrm>
            <a:off x="1528500" y="3047300"/>
            <a:ext cx="2579100" cy="53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7" type="subTitle"/>
          </p:nvPr>
        </p:nvSpPr>
        <p:spPr>
          <a:xfrm>
            <a:off x="5844900" y="2006428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hasCustomPrompt="1" idx="8" type="title"/>
          </p:nvPr>
        </p:nvSpPr>
        <p:spPr>
          <a:xfrm>
            <a:off x="5036400" y="1485900"/>
            <a:ext cx="808500" cy="651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4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/>
          <p:nvPr>
            <p:ph idx="9" type="subTitle"/>
          </p:nvPr>
        </p:nvSpPr>
        <p:spPr>
          <a:xfrm>
            <a:off x="5844900" y="1562100"/>
            <a:ext cx="2579100" cy="53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3" type="subTitle"/>
          </p:nvPr>
        </p:nvSpPr>
        <p:spPr>
          <a:xfrm>
            <a:off x="5844900" y="3491628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hasCustomPrompt="1" idx="14" type="title"/>
          </p:nvPr>
        </p:nvSpPr>
        <p:spPr>
          <a:xfrm>
            <a:off x="5036400" y="2971100"/>
            <a:ext cx="808500" cy="651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4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/>
          <p:nvPr>
            <p:ph idx="15" type="subTitle"/>
          </p:nvPr>
        </p:nvSpPr>
        <p:spPr>
          <a:xfrm>
            <a:off x="5844900" y="3047300"/>
            <a:ext cx="2579100" cy="53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0" name="Google Shape;90;p13"/>
          <p:cNvSpPr/>
          <p:nvPr/>
        </p:nvSpPr>
        <p:spPr>
          <a:xfrm>
            <a:off x="0" y="4878150"/>
            <a:ext cx="9144000" cy="28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99400" y="4819350"/>
            <a:ext cx="671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Circuiti e Dispositivi Neuromorfici A.A. 2025-26  -  Alessio Fontana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5384225" y="3425036"/>
            <a:ext cx="3046500" cy="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1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5" name="Google Shape;95;p14"/>
          <p:cNvSpPr txBox="1"/>
          <p:nvPr>
            <p:ph idx="1" type="subTitle"/>
          </p:nvPr>
        </p:nvSpPr>
        <p:spPr>
          <a:xfrm>
            <a:off x="3010350" y="989261"/>
            <a:ext cx="5420400" cy="232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6" name="Google Shape;96;p14"/>
          <p:cNvSpPr/>
          <p:nvPr/>
        </p:nvSpPr>
        <p:spPr>
          <a:xfrm>
            <a:off x="0" y="-13375"/>
            <a:ext cx="713100" cy="27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0" y="4604000"/>
            <a:ext cx="9144000" cy="55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4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0" y="4760600"/>
            <a:ext cx="671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Circuiti e Dispositivi Neuromorfici A.A. 2025-26  -  Alessio Fontana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720000" y="1166025"/>
            <a:ext cx="3732300" cy="145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2" name="Google Shape;102;p15"/>
          <p:cNvSpPr txBox="1"/>
          <p:nvPr>
            <p:ph idx="1" type="subTitle"/>
          </p:nvPr>
        </p:nvSpPr>
        <p:spPr>
          <a:xfrm>
            <a:off x="720000" y="2699825"/>
            <a:ext cx="3732300" cy="9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5"/>
          <p:cNvSpPr/>
          <p:nvPr>
            <p:ph idx="2" type="pic"/>
          </p:nvPr>
        </p:nvSpPr>
        <p:spPr>
          <a:xfrm>
            <a:off x="5273100" y="0"/>
            <a:ext cx="3870900" cy="48783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5"/>
          <p:cNvSpPr/>
          <p:nvPr/>
        </p:nvSpPr>
        <p:spPr>
          <a:xfrm>
            <a:off x="0" y="-13375"/>
            <a:ext cx="713100" cy="27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0" y="4878150"/>
            <a:ext cx="9144000" cy="28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5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9400" y="4819350"/>
            <a:ext cx="671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Circuiti e Dispositivi Neuromorfici A.A. 2025-26  -  Alessio Fontana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720000" y="1637550"/>
            <a:ext cx="35979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0" name="Google Shape;110;p16"/>
          <p:cNvSpPr txBox="1"/>
          <p:nvPr>
            <p:ph idx="1" type="subTitle"/>
          </p:nvPr>
        </p:nvSpPr>
        <p:spPr>
          <a:xfrm>
            <a:off x="720000" y="2700750"/>
            <a:ext cx="3001500" cy="11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6"/>
          <p:cNvSpPr/>
          <p:nvPr/>
        </p:nvSpPr>
        <p:spPr>
          <a:xfrm>
            <a:off x="0" y="4878150"/>
            <a:ext cx="9144000" cy="28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6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99400" y="4819350"/>
            <a:ext cx="671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Circuiti e Dispositivi Neuromorfici A.A. 2025-26  -  Alessio Fontana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5595000" y="1501200"/>
            <a:ext cx="2835600" cy="106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idx="1" type="subTitle"/>
          </p:nvPr>
        </p:nvSpPr>
        <p:spPr>
          <a:xfrm>
            <a:off x="5595375" y="2562000"/>
            <a:ext cx="2835600" cy="10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7"/>
          <p:cNvSpPr/>
          <p:nvPr/>
        </p:nvSpPr>
        <p:spPr>
          <a:xfrm>
            <a:off x="0" y="4878150"/>
            <a:ext cx="9144000" cy="28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7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17"/>
          <p:cNvSpPr txBox="1"/>
          <p:nvPr/>
        </p:nvSpPr>
        <p:spPr>
          <a:xfrm>
            <a:off x="99400" y="4819350"/>
            <a:ext cx="671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Circuiti e Dispositivi Neuromorfici A.A. 2025-26  -  Alessio Fontana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2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type="title"/>
          </p:nvPr>
        </p:nvSpPr>
        <p:spPr>
          <a:xfrm>
            <a:off x="1936100" y="1637550"/>
            <a:ext cx="25629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2" name="Google Shape;122;p18"/>
          <p:cNvSpPr txBox="1"/>
          <p:nvPr>
            <p:ph idx="1" type="subTitle"/>
          </p:nvPr>
        </p:nvSpPr>
        <p:spPr>
          <a:xfrm>
            <a:off x="1716800" y="2700750"/>
            <a:ext cx="3001500" cy="11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8"/>
          <p:cNvSpPr/>
          <p:nvPr/>
        </p:nvSpPr>
        <p:spPr>
          <a:xfrm>
            <a:off x="0" y="4878150"/>
            <a:ext cx="9144000" cy="28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8"/>
          <p:cNvSpPr/>
          <p:nvPr/>
        </p:nvSpPr>
        <p:spPr>
          <a:xfrm>
            <a:off x="0" y="-13375"/>
            <a:ext cx="713100" cy="27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8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18"/>
          <p:cNvSpPr txBox="1"/>
          <p:nvPr/>
        </p:nvSpPr>
        <p:spPr>
          <a:xfrm>
            <a:off x="99400" y="4819350"/>
            <a:ext cx="671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Circuiti e Dispositivi Neuromorfici A.A. 2025-26  -  Alessio Fontana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ONE_COLUMN_TEXT_1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9" name="Google Shape;129;p19"/>
          <p:cNvSpPr txBox="1"/>
          <p:nvPr>
            <p:ph idx="1" type="subTitle"/>
          </p:nvPr>
        </p:nvSpPr>
        <p:spPr>
          <a:xfrm>
            <a:off x="720000" y="1431400"/>
            <a:ext cx="4294800" cy="25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130" name="Google Shape;130;p19"/>
          <p:cNvSpPr/>
          <p:nvPr/>
        </p:nvSpPr>
        <p:spPr>
          <a:xfrm>
            <a:off x="0" y="4604000"/>
            <a:ext cx="9144000" cy="55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19"/>
          <p:cNvSpPr txBox="1"/>
          <p:nvPr/>
        </p:nvSpPr>
        <p:spPr>
          <a:xfrm>
            <a:off x="0" y="4760600"/>
            <a:ext cx="671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Circuiti e Dispositivi Neuromorfici A.A. 2025-26  -  Alessio Fontana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5" name="Google Shape;135;p20"/>
          <p:cNvSpPr txBox="1"/>
          <p:nvPr>
            <p:ph idx="1" type="subTitle"/>
          </p:nvPr>
        </p:nvSpPr>
        <p:spPr>
          <a:xfrm>
            <a:off x="4937085" y="2519100"/>
            <a:ext cx="2745300" cy="10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0"/>
          <p:cNvSpPr txBox="1"/>
          <p:nvPr>
            <p:ph idx="2" type="subTitle"/>
          </p:nvPr>
        </p:nvSpPr>
        <p:spPr>
          <a:xfrm>
            <a:off x="1461615" y="2519100"/>
            <a:ext cx="2745300" cy="10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0"/>
          <p:cNvSpPr txBox="1"/>
          <p:nvPr>
            <p:ph idx="3" type="subTitle"/>
          </p:nvPr>
        </p:nvSpPr>
        <p:spPr>
          <a:xfrm>
            <a:off x="1461616" y="2036400"/>
            <a:ext cx="27453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38" name="Google Shape;138;p20"/>
          <p:cNvSpPr txBox="1"/>
          <p:nvPr>
            <p:ph idx="4" type="subTitle"/>
          </p:nvPr>
        </p:nvSpPr>
        <p:spPr>
          <a:xfrm>
            <a:off x="4937081" y="2036400"/>
            <a:ext cx="27453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39" name="Google Shape;139;p20"/>
          <p:cNvSpPr/>
          <p:nvPr/>
        </p:nvSpPr>
        <p:spPr>
          <a:xfrm>
            <a:off x="0" y="4878150"/>
            <a:ext cx="9144000" cy="28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0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20"/>
          <p:cNvSpPr txBox="1"/>
          <p:nvPr/>
        </p:nvSpPr>
        <p:spPr>
          <a:xfrm>
            <a:off x="99400" y="4819350"/>
            <a:ext cx="671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Circuiti e Dispositivi Neuromorfici A.A. 2025-26  -  Alessio Fontana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4" name="Google Shape;144;p21"/>
          <p:cNvSpPr txBox="1"/>
          <p:nvPr>
            <p:ph idx="1" type="subTitle"/>
          </p:nvPr>
        </p:nvSpPr>
        <p:spPr>
          <a:xfrm>
            <a:off x="4619196" y="1687561"/>
            <a:ext cx="3361800" cy="19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1"/>
          <p:cNvSpPr txBox="1"/>
          <p:nvPr>
            <p:ph idx="2" type="subTitle"/>
          </p:nvPr>
        </p:nvSpPr>
        <p:spPr>
          <a:xfrm>
            <a:off x="720000" y="1687561"/>
            <a:ext cx="3361800" cy="19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/>
          <p:nvPr/>
        </p:nvSpPr>
        <p:spPr>
          <a:xfrm>
            <a:off x="0" y="4878150"/>
            <a:ext cx="9144000" cy="28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8595309" y="48119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21"/>
          <p:cNvSpPr txBox="1"/>
          <p:nvPr/>
        </p:nvSpPr>
        <p:spPr>
          <a:xfrm>
            <a:off x="99400" y="4819350"/>
            <a:ext cx="671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Circuiti e Dispositivi Neuromorfici A.A. 2025-26  -  Alessio Fontana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AND_TWO_COLUMNS_1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1" name="Google Shape;151;p22"/>
          <p:cNvSpPr/>
          <p:nvPr/>
        </p:nvSpPr>
        <p:spPr>
          <a:xfrm>
            <a:off x="0" y="4878150"/>
            <a:ext cx="9144000" cy="28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2"/>
          <p:cNvSpPr txBox="1"/>
          <p:nvPr>
            <p:ph idx="1" type="body"/>
          </p:nvPr>
        </p:nvSpPr>
        <p:spPr>
          <a:xfrm>
            <a:off x="720000" y="1291950"/>
            <a:ext cx="3784200" cy="315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153" name="Google Shape;153;p22"/>
          <p:cNvSpPr txBox="1"/>
          <p:nvPr>
            <p:ph idx="2" type="body"/>
          </p:nvPr>
        </p:nvSpPr>
        <p:spPr>
          <a:xfrm>
            <a:off x="4639904" y="1291950"/>
            <a:ext cx="3784200" cy="315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154" name="Google Shape;154;p22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22"/>
          <p:cNvSpPr txBox="1"/>
          <p:nvPr/>
        </p:nvSpPr>
        <p:spPr>
          <a:xfrm>
            <a:off x="99400" y="4819350"/>
            <a:ext cx="671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Circuiti e Dispositivi Neuromorfici A.A. 2025-26  -  Alessio Fontana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8" name="Google Shape;158;p23"/>
          <p:cNvSpPr txBox="1"/>
          <p:nvPr>
            <p:ph idx="1" type="subTitle"/>
          </p:nvPr>
        </p:nvSpPr>
        <p:spPr>
          <a:xfrm>
            <a:off x="825401" y="2459000"/>
            <a:ext cx="2242500" cy="9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3"/>
          <p:cNvSpPr txBox="1"/>
          <p:nvPr>
            <p:ph idx="2" type="subTitle"/>
          </p:nvPr>
        </p:nvSpPr>
        <p:spPr>
          <a:xfrm>
            <a:off x="3450747" y="2459000"/>
            <a:ext cx="2242500" cy="9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3"/>
          <p:cNvSpPr txBox="1"/>
          <p:nvPr>
            <p:ph idx="3" type="subTitle"/>
          </p:nvPr>
        </p:nvSpPr>
        <p:spPr>
          <a:xfrm>
            <a:off x="6076099" y="2459000"/>
            <a:ext cx="2242500" cy="9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3"/>
          <p:cNvSpPr txBox="1"/>
          <p:nvPr>
            <p:ph idx="4" type="subTitle"/>
          </p:nvPr>
        </p:nvSpPr>
        <p:spPr>
          <a:xfrm>
            <a:off x="825401" y="2066700"/>
            <a:ext cx="2242500" cy="46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62" name="Google Shape;162;p23"/>
          <p:cNvSpPr txBox="1"/>
          <p:nvPr>
            <p:ph idx="5" type="subTitle"/>
          </p:nvPr>
        </p:nvSpPr>
        <p:spPr>
          <a:xfrm>
            <a:off x="3450748" y="2066700"/>
            <a:ext cx="2242500" cy="46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63" name="Google Shape;163;p23"/>
          <p:cNvSpPr txBox="1"/>
          <p:nvPr>
            <p:ph idx="6" type="subTitle"/>
          </p:nvPr>
        </p:nvSpPr>
        <p:spPr>
          <a:xfrm>
            <a:off x="6076095" y="2066700"/>
            <a:ext cx="2242500" cy="46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64" name="Google Shape;164;p23"/>
          <p:cNvSpPr/>
          <p:nvPr/>
        </p:nvSpPr>
        <p:spPr>
          <a:xfrm>
            <a:off x="0" y="4878150"/>
            <a:ext cx="9144000" cy="28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3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23"/>
          <p:cNvSpPr txBox="1"/>
          <p:nvPr/>
        </p:nvSpPr>
        <p:spPr>
          <a:xfrm>
            <a:off x="99400" y="4819350"/>
            <a:ext cx="671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Circuiti e Dispositivi Neuromorfici A.A. 2025-26  -  Alessio Fontana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9" name="Google Shape;169;p24"/>
          <p:cNvSpPr txBox="1"/>
          <p:nvPr>
            <p:ph idx="1" type="subTitle"/>
          </p:nvPr>
        </p:nvSpPr>
        <p:spPr>
          <a:xfrm>
            <a:off x="2073011" y="1641621"/>
            <a:ext cx="5004600" cy="6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24"/>
          <p:cNvSpPr txBox="1"/>
          <p:nvPr>
            <p:ph idx="2" type="subTitle"/>
          </p:nvPr>
        </p:nvSpPr>
        <p:spPr>
          <a:xfrm>
            <a:off x="2073111" y="2784671"/>
            <a:ext cx="5004600" cy="6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24"/>
          <p:cNvSpPr txBox="1"/>
          <p:nvPr>
            <p:ph idx="3" type="subTitle"/>
          </p:nvPr>
        </p:nvSpPr>
        <p:spPr>
          <a:xfrm>
            <a:off x="2066261" y="3927721"/>
            <a:ext cx="5004600" cy="6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4"/>
          <p:cNvSpPr txBox="1"/>
          <p:nvPr>
            <p:ph idx="4" type="subTitle"/>
          </p:nvPr>
        </p:nvSpPr>
        <p:spPr>
          <a:xfrm>
            <a:off x="2073011" y="1229395"/>
            <a:ext cx="50046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3" name="Google Shape;173;p24"/>
          <p:cNvSpPr txBox="1"/>
          <p:nvPr>
            <p:ph idx="5" type="subTitle"/>
          </p:nvPr>
        </p:nvSpPr>
        <p:spPr>
          <a:xfrm>
            <a:off x="2073139" y="2372445"/>
            <a:ext cx="50046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4" name="Google Shape;174;p24"/>
          <p:cNvSpPr txBox="1"/>
          <p:nvPr>
            <p:ph idx="6" type="subTitle"/>
          </p:nvPr>
        </p:nvSpPr>
        <p:spPr>
          <a:xfrm>
            <a:off x="2066266" y="3515495"/>
            <a:ext cx="50046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5" name="Google Shape;175;p24"/>
          <p:cNvSpPr/>
          <p:nvPr/>
        </p:nvSpPr>
        <p:spPr>
          <a:xfrm>
            <a:off x="0" y="4878150"/>
            <a:ext cx="9144000" cy="28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4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7" name="Google Shape;177;p24"/>
          <p:cNvSpPr txBox="1"/>
          <p:nvPr/>
        </p:nvSpPr>
        <p:spPr>
          <a:xfrm>
            <a:off x="99400" y="4819350"/>
            <a:ext cx="671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Circuiti e Dispositivi Neuromorfici A.A. 2025-26  -  Alessio Fontana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0" name="Google Shape;180;p25"/>
          <p:cNvSpPr txBox="1"/>
          <p:nvPr>
            <p:ph idx="1" type="subTitle"/>
          </p:nvPr>
        </p:nvSpPr>
        <p:spPr>
          <a:xfrm>
            <a:off x="2110311" y="1995300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5"/>
          <p:cNvSpPr txBox="1"/>
          <p:nvPr>
            <p:ph idx="2" type="subTitle"/>
          </p:nvPr>
        </p:nvSpPr>
        <p:spPr>
          <a:xfrm>
            <a:off x="5055489" y="1995300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5"/>
          <p:cNvSpPr txBox="1"/>
          <p:nvPr>
            <p:ph idx="3" type="subTitle"/>
          </p:nvPr>
        </p:nvSpPr>
        <p:spPr>
          <a:xfrm>
            <a:off x="2110311" y="36381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5"/>
          <p:cNvSpPr txBox="1"/>
          <p:nvPr>
            <p:ph idx="4" type="subTitle"/>
          </p:nvPr>
        </p:nvSpPr>
        <p:spPr>
          <a:xfrm>
            <a:off x="5055489" y="36381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25"/>
          <p:cNvSpPr txBox="1"/>
          <p:nvPr>
            <p:ph idx="5" type="subTitle"/>
          </p:nvPr>
        </p:nvSpPr>
        <p:spPr>
          <a:xfrm>
            <a:off x="2110311" y="1615519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5" name="Google Shape;185;p25"/>
          <p:cNvSpPr txBox="1"/>
          <p:nvPr>
            <p:ph idx="6" type="subTitle"/>
          </p:nvPr>
        </p:nvSpPr>
        <p:spPr>
          <a:xfrm>
            <a:off x="2110311" y="3258494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6" name="Google Shape;186;p25"/>
          <p:cNvSpPr txBox="1"/>
          <p:nvPr>
            <p:ph idx="7" type="subTitle"/>
          </p:nvPr>
        </p:nvSpPr>
        <p:spPr>
          <a:xfrm>
            <a:off x="5055486" y="1615519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7" name="Google Shape;187;p25"/>
          <p:cNvSpPr txBox="1"/>
          <p:nvPr>
            <p:ph idx="8" type="subTitle"/>
          </p:nvPr>
        </p:nvSpPr>
        <p:spPr>
          <a:xfrm>
            <a:off x="5055486" y="3258494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8" name="Google Shape;188;p25"/>
          <p:cNvSpPr/>
          <p:nvPr/>
        </p:nvSpPr>
        <p:spPr>
          <a:xfrm>
            <a:off x="0" y="4878150"/>
            <a:ext cx="9144000" cy="28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5"/>
          <p:cNvSpPr/>
          <p:nvPr/>
        </p:nvSpPr>
        <p:spPr>
          <a:xfrm>
            <a:off x="0" y="-13375"/>
            <a:ext cx="713100" cy="27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5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1" name="Google Shape;191;p25"/>
          <p:cNvSpPr txBox="1"/>
          <p:nvPr/>
        </p:nvSpPr>
        <p:spPr>
          <a:xfrm>
            <a:off x="99400" y="4819350"/>
            <a:ext cx="671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Circuiti e Dispositivi Neuromorfici A.A. 2025-26  -  Alessio Fontana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7_1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4" name="Google Shape;194;p26"/>
          <p:cNvSpPr txBox="1"/>
          <p:nvPr>
            <p:ph idx="1" type="subTitle"/>
          </p:nvPr>
        </p:nvSpPr>
        <p:spPr>
          <a:xfrm>
            <a:off x="2218888" y="2149201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26"/>
          <p:cNvSpPr txBox="1"/>
          <p:nvPr>
            <p:ph idx="2" type="subTitle"/>
          </p:nvPr>
        </p:nvSpPr>
        <p:spPr>
          <a:xfrm>
            <a:off x="4827516" y="2149201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26"/>
          <p:cNvSpPr txBox="1"/>
          <p:nvPr>
            <p:ph idx="3" type="subTitle"/>
          </p:nvPr>
        </p:nvSpPr>
        <p:spPr>
          <a:xfrm>
            <a:off x="914575" y="3579425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26"/>
          <p:cNvSpPr txBox="1"/>
          <p:nvPr>
            <p:ph idx="4" type="subTitle"/>
          </p:nvPr>
        </p:nvSpPr>
        <p:spPr>
          <a:xfrm>
            <a:off x="3523204" y="3579425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26"/>
          <p:cNvSpPr txBox="1"/>
          <p:nvPr>
            <p:ph idx="5" type="subTitle"/>
          </p:nvPr>
        </p:nvSpPr>
        <p:spPr>
          <a:xfrm>
            <a:off x="6131832" y="3579401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26"/>
          <p:cNvSpPr txBox="1"/>
          <p:nvPr>
            <p:ph idx="6" type="subTitle"/>
          </p:nvPr>
        </p:nvSpPr>
        <p:spPr>
          <a:xfrm>
            <a:off x="2223007" y="1732800"/>
            <a:ext cx="2089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0" name="Google Shape;200;p26"/>
          <p:cNvSpPr txBox="1"/>
          <p:nvPr>
            <p:ph idx="7" type="subTitle"/>
          </p:nvPr>
        </p:nvSpPr>
        <p:spPr>
          <a:xfrm>
            <a:off x="4831635" y="1732800"/>
            <a:ext cx="2089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1" name="Google Shape;201;p26"/>
          <p:cNvSpPr txBox="1"/>
          <p:nvPr>
            <p:ph idx="8" type="subTitle"/>
          </p:nvPr>
        </p:nvSpPr>
        <p:spPr>
          <a:xfrm>
            <a:off x="6135951" y="3163000"/>
            <a:ext cx="2089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2" name="Google Shape;202;p26"/>
          <p:cNvSpPr txBox="1"/>
          <p:nvPr>
            <p:ph idx="9" type="subTitle"/>
          </p:nvPr>
        </p:nvSpPr>
        <p:spPr>
          <a:xfrm>
            <a:off x="918694" y="3163000"/>
            <a:ext cx="2089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3" name="Google Shape;203;p26"/>
          <p:cNvSpPr txBox="1"/>
          <p:nvPr>
            <p:ph idx="13" type="subTitle"/>
          </p:nvPr>
        </p:nvSpPr>
        <p:spPr>
          <a:xfrm>
            <a:off x="3527323" y="3163000"/>
            <a:ext cx="2089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4" name="Google Shape;204;p26"/>
          <p:cNvSpPr/>
          <p:nvPr/>
        </p:nvSpPr>
        <p:spPr>
          <a:xfrm>
            <a:off x="0" y="4878150"/>
            <a:ext cx="9144000" cy="28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6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6" name="Google Shape;206;p26"/>
          <p:cNvSpPr txBox="1"/>
          <p:nvPr/>
        </p:nvSpPr>
        <p:spPr>
          <a:xfrm>
            <a:off x="99400" y="4819350"/>
            <a:ext cx="671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Circuiti e Dispositivi Neuromorfici A.A. 2025-26  -  Alessio Fontana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9" name="Google Shape;209;p27"/>
          <p:cNvSpPr txBox="1"/>
          <p:nvPr>
            <p:ph idx="1" type="subTitle"/>
          </p:nvPr>
        </p:nvSpPr>
        <p:spPr>
          <a:xfrm>
            <a:off x="914575" y="2149201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7"/>
          <p:cNvSpPr txBox="1"/>
          <p:nvPr>
            <p:ph idx="2" type="subTitle"/>
          </p:nvPr>
        </p:nvSpPr>
        <p:spPr>
          <a:xfrm>
            <a:off x="3523204" y="2149201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27"/>
          <p:cNvSpPr txBox="1"/>
          <p:nvPr>
            <p:ph idx="3" type="subTitle"/>
          </p:nvPr>
        </p:nvSpPr>
        <p:spPr>
          <a:xfrm>
            <a:off x="914575" y="3579425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7"/>
          <p:cNvSpPr txBox="1"/>
          <p:nvPr>
            <p:ph idx="4" type="subTitle"/>
          </p:nvPr>
        </p:nvSpPr>
        <p:spPr>
          <a:xfrm>
            <a:off x="3523204" y="3579425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7"/>
          <p:cNvSpPr txBox="1"/>
          <p:nvPr>
            <p:ph idx="5" type="subTitle"/>
          </p:nvPr>
        </p:nvSpPr>
        <p:spPr>
          <a:xfrm>
            <a:off x="6131832" y="2149201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7"/>
          <p:cNvSpPr txBox="1"/>
          <p:nvPr>
            <p:ph idx="6" type="subTitle"/>
          </p:nvPr>
        </p:nvSpPr>
        <p:spPr>
          <a:xfrm>
            <a:off x="6131832" y="3579425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27"/>
          <p:cNvSpPr txBox="1"/>
          <p:nvPr>
            <p:ph idx="7" type="subTitle"/>
          </p:nvPr>
        </p:nvSpPr>
        <p:spPr>
          <a:xfrm>
            <a:off x="918694" y="1732800"/>
            <a:ext cx="2089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6" name="Google Shape;216;p27"/>
          <p:cNvSpPr txBox="1"/>
          <p:nvPr>
            <p:ph idx="8" type="subTitle"/>
          </p:nvPr>
        </p:nvSpPr>
        <p:spPr>
          <a:xfrm>
            <a:off x="3527323" y="1732800"/>
            <a:ext cx="2089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7" name="Google Shape;217;p27"/>
          <p:cNvSpPr txBox="1"/>
          <p:nvPr>
            <p:ph idx="9" type="subTitle"/>
          </p:nvPr>
        </p:nvSpPr>
        <p:spPr>
          <a:xfrm>
            <a:off x="6135951" y="1732800"/>
            <a:ext cx="2089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8" name="Google Shape;218;p27"/>
          <p:cNvSpPr txBox="1"/>
          <p:nvPr>
            <p:ph idx="13" type="subTitle"/>
          </p:nvPr>
        </p:nvSpPr>
        <p:spPr>
          <a:xfrm>
            <a:off x="918694" y="3163000"/>
            <a:ext cx="2089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9" name="Google Shape;219;p27"/>
          <p:cNvSpPr txBox="1"/>
          <p:nvPr>
            <p:ph idx="14" type="subTitle"/>
          </p:nvPr>
        </p:nvSpPr>
        <p:spPr>
          <a:xfrm>
            <a:off x="3527323" y="3163000"/>
            <a:ext cx="2089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0" name="Google Shape;220;p27"/>
          <p:cNvSpPr txBox="1"/>
          <p:nvPr>
            <p:ph idx="15" type="subTitle"/>
          </p:nvPr>
        </p:nvSpPr>
        <p:spPr>
          <a:xfrm>
            <a:off x="6135951" y="3163000"/>
            <a:ext cx="2089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1" name="Google Shape;221;p27"/>
          <p:cNvSpPr/>
          <p:nvPr/>
        </p:nvSpPr>
        <p:spPr>
          <a:xfrm>
            <a:off x="0" y="4878150"/>
            <a:ext cx="9144000" cy="28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7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3" name="Google Shape;223;p27"/>
          <p:cNvSpPr txBox="1"/>
          <p:nvPr/>
        </p:nvSpPr>
        <p:spPr>
          <a:xfrm>
            <a:off x="99400" y="4819350"/>
            <a:ext cx="671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Circuiti e Dispositivi Neuromorfici A.A. 2025-26  -  Alessio Fontana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8"/>
          <p:cNvSpPr txBox="1"/>
          <p:nvPr>
            <p:ph hasCustomPrompt="1" type="title"/>
          </p:nvPr>
        </p:nvSpPr>
        <p:spPr>
          <a:xfrm>
            <a:off x="713225" y="664950"/>
            <a:ext cx="41910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6" name="Google Shape;226;p28"/>
          <p:cNvSpPr txBox="1"/>
          <p:nvPr>
            <p:ph idx="1" type="subTitle"/>
          </p:nvPr>
        </p:nvSpPr>
        <p:spPr>
          <a:xfrm>
            <a:off x="713225" y="1353866"/>
            <a:ext cx="4191000" cy="3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7" name="Google Shape;227;p28"/>
          <p:cNvSpPr txBox="1"/>
          <p:nvPr>
            <p:ph hasCustomPrompt="1" idx="2" type="title"/>
          </p:nvPr>
        </p:nvSpPr>
        <p:spPr>
          <a:xfrm>
            <a:off x="713225" y="2017201"/>
            <a:ext cx="41910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8" name="Google Shape;228;p28"/>
          <p:cNvSpPr txBox="1"/>
          <p:nvPr>
            <p:ph idx="3" type="subTitle"/>
          </p:nvPr>
        </p:nvSpPr>
        <p:spPr>
          <a:xfrm>
            <a:off x="713225" y="2706113"/>
            <a:ext cx="4191000" cy="40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9" name="Google Shape;229;p28"/>
          <p:cNvSpPr txBox="1"/>
          <p:nvPr>
            <p:ph hasCustomPrompt="1" idx="4" type="title"/>
          </p:nvPr>
        </p:nvSpPr>
        <p:spPr>
          <a:xfrm>
            <a:off x="713225" y="3369451"/>
            <a:ext cx="41910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0" name="Google Shape;230;p28"/>
          <p:cNvSpPr txBox="1"/>
          <p:nvPr>
            <p:ph idx="5" type="subTitle"/>
          </p:nvPr>
        </p:nvSpPr>
        <p:spPr>
          <a:xfrm>
            <a:off x="713225" y="4058377"/>
            <a:ext cx="4191000" cy="40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1" name="Google Shape;231;p28"/>
          <p:cNvSpPr/>
          <p:nvPr/>
        </p:nvSpPr>
        <p:spPr>
          <a:xfrm>
            <a:off x="0" y="4604000"/>
            <a:ext cx="9144000" cy="55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8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28"/>
          <p:cNvSpPr txBox="1"/>
          <p:nvPr/>
        </p:nvSpPr>
        <p:spPr>
          <a:xfrm>
            <a:off x="0" y="4760600"/>
            <a:ext cx="671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Circuiti e Dispositivi Neuromorfici A.A. 2025-26  -  Alessio Fontana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9"/>
          <p:cNvSpPr txBox="1"/>
          <p:nvPr>
            <p:ph hasCustomPrompt="1" type="title"/>
          </p:nvPr>
        </p:nvSpPr>
        <p:spPr>
          <a:xfrm>
            <a:off x="1279125" y="1962150"/>
            <a:ext cx="13989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6" name="Google Shape;236;p29"/>
          <p:cNvSpPr txBox="1"/>
          <p:nvPr>
            <p:ph idx="1" type="subTitle"/>
          </p:nvPr>
        </p:nvSpPr>
        <p:spPr>
          <a:xfrm>
            <a:off x="829225" y="3629175"/>
            <a:ext cx="22386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37" name="Google Shape;237;p29"/>
          <p:cNvSpPr txBox="1"/>
          <p:nvPr>
            <p:ph idx="2" type="subTitle"/>
          </p:nvPr>
        </p:nvSpPr>
        <p:spPr>
          <a:xfrm>
            <a:off x="829225" y="3271259"/>
            <a:ext cx="22386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1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8" name="Google Shape;238;p29"/>
          <p:cNvSpPr txBox="1"/>
          <p:nvPr>
            <p:ph hasCustomPrompt="1" idx="3" type="title"/>
          </p:nvPr>
        </p:nvSpPr>
        <p:spPr>
          <a:xfrm>
            <a:off x="3873150" y="1962150"/>
            <a:ext cx="13977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9" name="Google Shape;239;p29"/>
          <p:cNvSpPr txBox="1"/>
          <p:nvPr>
            <p:ph idx="4" type="subTitle"/>
          </p:nvPr>
        </p:nvSpPr>
        <p:spPr>
          <a:xfrm>
            <a:off x="3452704" y="3629175"/>
            <a:ext cx="22386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0" name="Google Shape;240;p29"/>
          <p:cNvSpPr txBox="1"/>
          <p:nvPr>
            <p:ph idx="5" type="subTitle"/>
          </p:nvPr>
        </p:nvSpPr>
        <p:spPr>
          <a:xfrm>
            <a:off x="3452704" y="3271259"/>
            <a:ext cx="22386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1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1" name="Google Shape;241;p29"/>
          <p:cNvSpPr txBox="1"/>
          <p:nvPr>
            <p:ph hasCustomPrompt="1" idx="6" type="title"/>
          </p:nvPr>
        </p:nvSpPr>
        <p:spPr>
          <a:xfrm>
            <a:off x="6496632" y="1962150"/>
            <a:ext cx="13977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2" name="Google Shape;242;p29"/>
          <p:cNvSpPr txBox="1"/>
          <p:nvPr>
            <p:ph idx="7" type="subTitle"/>
          </p:nvPr>
        </p:nvSpPr>
        <p:spPr>
          <a:xfrm>
            <a:off x="6076182" y="3629175"/>
            <a:ext cx="22386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3" name="Google Shape;243;p29"/>
          <p:cNvSpPr txBox="1"/>
          <p:nvPr>
            <p:ph idx="8" type="subTitle"/>
          </p:nvPr>
        </p:nvSpPr>
        <p:spPr>
          <a:xfrm>
            <a:off x="6076182" y="3271259"/>
            <a:ext cx="22386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1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4" name="Google Shape;244;p29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5" name="Google Shape;245;p29"/>
          <p:cNvSpPr/>
          <p:nvPr/>
        </p:nvSpPr>
        <p:spPr>
          <a:xfrm>
            <a:off x="0" y="-13375"/>
            <a:ext cx="713100" cy="27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9"/>
          <p:cNvSpPr/>
          <p:nvPr/>
        </p:nvSpPr>
        <p:spPr>
          <a:xfrm>
            <a:off x="0" y="4878150"/>
            <a:ext cx="9144000" cy="28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9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8" name="Google Shape;248;p29"/>
          <p:cNvSpPr txBox="1"/>
          <p:nvPr/>
        </p:nvSpPr>
        <p:spPr>
          <a:xfrm>
            <a:off x="99400" y="4819350"/>
            <a:ext cx="671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Circuiti e Dispositivi Neuromorfici A.A. 2025-26  -  Alessio Fontana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1" name="Google Shape;251;p30"/>
          <p:cNvSpPr/>
          <p:nvPr/>
        </p:nvSpPr>
        <p:spPr>
          <a:xfrm>
            <a:off x="0" y="4878150"/>
            <a:ext cx="9144000" cy="28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0"/>
          <p:cNvSpPr/>
          <p:nvPr/>
        </p:nvSpPr>
        <p:spPr>
          <a:xfrm>
            <a:off x="0" y="-13375"/>
            <a:ext cx="713100" cy="27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0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30"/>
          <p:cNvSpPr txBox="1"/>
          <p:nvPr/>
        </p:nvSpPr>
        <p:spPr>
          <a:xfrm>
            <a:off x="99400" y="4819350"/>
            <a:ext cx="671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Circuiti e Dispositivi Neuromorfici A.A. 2025-26  -  Alessio Fontana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7" name="Google Shape;257;p31"/>
          <p:cNvSpPr/>
          <p:nvPr/>
        </p:nvSpPr>
        <p:spPr>
          <a:xfrm>
            <a:off x="0" y="4878150"/>
            <a:ext cx="9144000" cy="28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1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9" name="Google Shape;259;p31"/>
          <p:cNvSpPr txBox="1"/>
          <p:nvPr/>
        </p:nvSpPr>
        <p:spPr>
          <a:xfrm>
            <a:off x="99400" y="4819350"/>
            <a:ext cx="671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Circuiti e Dispositivi Neuromorfici A.A. 2025-26  -  Alessio Fontana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2"/>
          <p:cNvSpPr txBox="1"/>
          <p:nvPr>
            <p:ph type="title"/>
          </p:nvPr>
        </p:nvSpPr>
        <p:spPr>
          <a:xfrm>
            <a:off x="2724900" y="1850975"/>
            <a:ext cx="3694200" cy="151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62" name="Google Shape;262;p32"/>
          <p:cNvSpPr txBox="1"/>
          <p:nvPr>
            <p:ph hasCustomPrompt="1" idx="2" type="title"/>
          </p:nvPr>
        </p:nvSpPr>
        <p:spPr>
          <a:xfrm>
            <a:off x="3959100" y="784325"/>
            <a:ext cx="1225800" cy="915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3" name="Google Shape;263;p32"/>
          <p:cNvSpPr txBox="1"/>
          <p:nvPr>
            <p:ph idx="1" type="subTitle"/>
          </p:nvPr>
        </p:nvSpPr>
        <p:spPr>
          <a:xfrm>
            <a:off x="3297450" y="3360725"/>
            <a:ext cx="2549100" cy="6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32"/>
          <p:cNvSpPr/>
          <p:nvPr/>
        </p:nvSpPr>
        <p:spPr>
          <a:xfrm>
            <a:off x="0" y="4604000"/>
            <a:ext cx="9144000" cy="55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2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6" name="Google Shape;266;p32"/>
          <p:cNvSpPr txBox="1"/>
          <p:nvPr/>
        </p:nvSpPr>
        <p:spPr>
          <a:xfrm>
            <a:off x="0" y="4760600"/>
            <a:ext cx="671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Circuiti e Dispositivi Neuromorfici A.A. 2025-26  -  Alessio Fontana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3"/>
          <p:cNvSpPr txBox="1"/>
          <p:nvPr>
            <p:ph type="title"/>
          </p:nvPr>
        </p:nvSpPr>
        <p:spPr>
          <a:xfrm>
            <a:off x="4736575" y="1850975"/>
            <a:ext cx="3694200" cy="151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69" name="Google Shape;269;p33"/>
          <p:cNvSpPr txBox="1"/>
          <p:nvPr>
            <p:ph hasCustomPrompt="1" idx="2" type="title"/>
          </p:nvPr>
        </p:nvSpPr>
        <p:spPr>
          <a:xfrm>
            <a:off x="7204975" y="784325"/>
            <a:ext cx="1225800" cy="915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2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0" name="Google Shape;270;p33"/>
          <p:cNvSpPr txBox="1"/>
          <p:nvPr>
            <p:ph idx="1" type="subTitle"/>
          </p:nvPr>
        </p:nvSpPr>
        <p:spPr>
          <a:xfrm>
            <a:off x="5881675" y="3360725"/>
            <a:ext cx="2549100" cy="6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3"/>
          <p:cNvSpPr/>
          <p:nvPr/>
        </p:nvSpPr>
        <p:spPr>
          <a:xfrm>
            <a:off x="0" y="4604000"/>
            <a:ext cx="9144000" cy="55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3"/>
          <p:cNvSpPr/>
          <p:nvPr/>
        </p:nvSpPr>
        <p:spPr>
          <a:xfrm>
            <a:off x="0" y="-13375"/>
            <a:ext cx="713100" cy="27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3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4" name="Google Shape;274;p33"/>
          <p:cNvSpPr txBox="1"/>
          <p:nvPr/>
        </p:nvSpPr>
        <p:spPr>
          <a:xfrm>
            <a:off x="0" y="4760600"/>
            <a:ext cx="671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Circuiti e Dispositivi Neuromorfici A.A. 2025-26  -  Alessio Fontana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4"/>
          <p:cNvSpPr txBox="1"/>
          <p:nvPr>
            <p:ph type="title"/>
          </p:nvPr>
        </p:nvSpPr>
        <p:spPr>
          <a:xfrm>
            <a:off x="713263" y="52512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7" name="Google Shape;277;p34"/>
          <p:cNvSpPr txBox="1"/>
          <p:nvPr>
            <p:ph idx="1" type="subTitle"/>
          </p:nvPr>
        </p:nvSpPr>
        <p:spPr>
          <a:xfrm>
            <a:off x="713225" y="16890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34"/>
          <p:cNvSpPr txBox="1"/>
          <p:nvPr/>
        </p:nvSpPr>
        <p:spPr>
          <a:xfrm>
            <a:off x="713275" y="3498564"/>
            <a:ext cx="36792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sz="1200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9" name="Google Shape;279;p34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0" name="Google Shape;280;p34"/>
          <p:cNvSpPr txBox="1"/>
          <p:nvPr/>
        </p:nvSpPr>
        <p:spPr>
          <a:xfrm>
            <a:off x="0" y="4760600"/>
            <a:ext cx="671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Circuiti e Dispositivi Neuromorfici A.A. 2025-26  -  Alessio Fontana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5"/>
          <p:cNvSpPr/>
          <p:nvPr/>
        </p:nvSpPr>
        <p:spPr>
          <a:xfrm>
            <a:off x="0" y="4878150"/>
            <a:ext cx="9144000" cy="28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5"/>
          <p:cNvSpPr/>
          <p:nvPr/>
        </p:nvSpPr>
        <p:spPr>
          <a:xfrm>
            <a:off x="0" y="-13375"/>
            <a:ext cx="713100" cy="27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5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5" name="Google Shape;285;p35"/>
          <p:cNvSpPr txBox="1"/>
          <p:nvPr/>
        </p:nvSpPr>
        <p:spPr>
          <a:xfrm>
            <a:off x="99400" y="4819350"/>
            <a:ext cx="671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Circuiti e Dispositivi Neuromorfici A.A. 2025-26  -  Alessio Fontana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6"/>
          <p:cNvSpPr/>
          <p:nvPr/>
        </p:nvSpPr>
        <p:spPr>
          <a:xfrm>
            <a:off x="0" y="4878150"/>
            <a:ext cx="9144000" cy="28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6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9" name="Google Shape;289;p36"/>
          <p:cNvSpPr txBox="1"/>
          <p:nvPr/>
        </p:nvSpPr>
        <p:spPr>
          <a:xfrm>
            <a:off x="99400" y="4819350"/>
            <a:ext cx="671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Circuiti e Dispositivi Neuromorfici A.A. 2025-26  -  Alessio Fontana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29" Type="http://schemas.openxmlformats.org/officeDocument/2006/relationships/slideLayout" Target="../slideLayouts/slideLayout28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0.xml"/><Relationship Id="rId33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9.xml"/><Relationship Id="rId3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12.xml"/><Relationship Id="rId35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11.xml"/><Relationship Id="rId34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14.xml"/><Relationship Id="rId37" Type="http://schemas.openxmlformats.org/officeDocument/2006/relationships/theme" Target="../theme/theme2.xml"/><Relationship Id="rId14" Type="http://schemas.openxmlformats.org/officeDocument/2006/relationships/slideLayout" Target="../slideLayouts/slideLayout13.xml"/><Relationship Id="rId36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269775" y="0"/>
            <a:ext cx="874224" cy="87422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</p:sldLayoutIdLst>
  <p:transition spd="med">
    <p:push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/>
          <p:cNvSpPr txBox="1"/>
          <p:nvPr>
            <p:ph type="ctrTitle"/>
          </p:nvPr>
        </p:nvSpPr>
        <p:spPr>
          <a:xfrm>
            <a:off x="4187425" y="1054350"/>
            <a:ext cx="4711800" cy="165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Current-Mirror-Based VMM for Neural Network Applications</a:t>
            </a:r>
            <a:endParaRPr sz="31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95" name="Google Shape;295;p37"/>
          <p:cNvSpPr txBox="1"/>
          <p:nvPr>
            <p:ph idx="1" type="subTitle"/>
          </p:nvPr>
        </p:nvSpPr>
        <p:spPr>
          <a:xfrm>
            <a:off x="4187425" y="2874450"/>
            <a:ext cx="3216900" cy="9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Alessio Fontana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a.fontana19@studenti.unipi.it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7"/>
          <p:cNvSpPr txBox="1"/>
          <p:nvPr>
            <p:ph idx="12" type="sldNum"/>
          </p:nvPr>
        </p:nvSpPr>
        <p:spPr>
          <a:xfrm>
            <a:off x="8546434" y="48637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7" name="Google Shape;297;p37" title="1_uj7CxZvGk_PtjPXGHme--w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300" y="913475"/>
            <a:ext cx="3882625" cy="2932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8"/>
          <p:cNvSpPr txBox="1"/>
          <p:nvPr>
            <p:ph type="title"/>
          </p:nvPr>
        </p:nvSpPr>
        <p:spPr>
          <a:xfrm>
            <a:off x="720000" y="209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303" name="Google Shape;303;p38"/>
          <p:cNvSpPr txBox="1"/>
          <p:nvPr>
            <p:ph idx="1" type="subTitle"/>
          </p:nvPr>
        </p:nvSpPr>
        <p:spPr>
          <a:xfrm>
            <a:off x="879825" y="1503350"/>
            <a:ext cx="3763500" cy="7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Analog VMM for Neural Networks</a:t>
            </a:r>
            <a:endParaRPr i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CM-Based Analog Multiplication</a:t>
            </a:r>
            <a:endParaRPr/>
          </a:p>
        </p:txBody>
      </p:sp>
      <p:sp>
        <p:nvSpPr>
          <p:cNvPr id="304" name="Google Shape;304;p38"/>
          <p:cNvSpPr txBox="1"/>
          <p:nvPr>
            <p:ph idx="2" type="title"/>
          </p:nvPr>
        </p:nvSpPr>
        <p:spPr>
          <a:xfrm>
            <a:off x="701100" y="955038"/>
            <a:ext cx="808500" cy="65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05" name="Google Shape;305;p38"/>
          <p:cNvSpPr txBox="1"/>
          <p:nvPr>
            <p:ph idx="3" type="subTitle"/>
          </p:nvPr>
        </p:nvSpPr>
        <p:spPr>
          <a:xfrm>
            <a:off x="1509600" y="1031238"/>
            <a:ext cx="2727000" cy="53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306" name="Google Shape;306;p38"/>
          <p:cNvSpPr txBox="1"/>
          <p:nvPr>
            <p:ph idx="4" type="subTitle"/>
          </p:nvPr>
        </p:nvSpPr>
        <p:spPr>
          <a:xfrm>
            <a:off x="5049600" y="1503350"/>
            <a:ext cx="3189900" cy="10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FGCM Characterization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Multiplication Factor vs Floating-Gate Charge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ENOB Analysis of the FGCM</a:t>
            </a:r>
            <a:endParaRPr/>
          </a:p>
        </p:txBody>
      </p:sp>
      <p:sp>
        <p:nvSpPr>
          <p:cNvPr id="307" name="Google Shape;307;p38"/>
          <p:cNvSpPr txBox="1"/>
          <p:nvPr>
            <p:ph idx="5" type="title"/>
          </p:nvPr>
        </p:nvSpPr>
        <p:spPr>
          <a:xfrm>
            <a:off x="4791150" y="955050"/>
            <a:ext cx="808500" cy="65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08" name="Google Shape;308;p38"/>
          <p:cNvSpPr txBox="1"/>
          <p:nvPr>
            <p:ph idx="6" type="subTitle"/>
          </p:nvPr>
        </p:nvSpPr>
        <p:spPr>
          <a:xfrm>
            <a:off x="5599650" y="1031250"/>
            <a:ext cx="2579100" cy="53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Simulations</a:t>
            </a:r>
            <a:endParaRPr/>
          </a:p>
        </p:txBody>
      </p:sp>
      <p:sp>
        <p:nvSpPr>
          <p:cNvPr id="309" name="Google Shape;309;p38"/>
          <p:cNvSpPr txBox="1"/>
          <p:nvPr>
            <p:ph idx="7" type="subTitle"/>
          </p:nvPr>
        </p:nvSpPr>
        <p:spPr>
          <a:xfrm>
            <a:off x="879825" y="3398625"/>
            <a:ext cx="2867700" cy="11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Floating-Gate Cell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4×4 Analog VMM</a:t>
            </a:r>
            <a:endParaRPr/>
          </a:p>
        </p:txBody>
      </p:sp>
      <p:sp>
        <p:nvSpPr>
          <p:cNvPr id="310" name="Google Shape;310;p38"/>
          <p:cNvSpPr txBox="1"/>
          <p:nvPr>
            <p:ph idx="8" type="title"/>
          </p:nvPr>
        </p:nvSpPr>
        <p:spPr>
          <a:xfrm>
            <a:off x="657450" y="2654425"/>
            <a:ext cx="808500" cy="65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11" name="Google Shape;311;p38"/>
          <p:cNvSpPr txBox="1"/>
          <p:nvPr>
            <p:ph idx="9" type="subTitle"/>
          </p:nvPr>
        </p:nvSpPr>
        <p:spPr>
          <a:xfrm>
            <a:off x="1472025" y="2806825"/>
            <a:ext cx="2579100" cy="53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Layout</a:t>
            </a:r>
            <a:endParaRPr/>
          </a:p>
        </p:txBody>
      </p:sp>
      <p:sp>
        <p:nvSpPr>
          <p:cNvPr id="312" name="Google Shape;312;p38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3" name="Google Shape;313;p38"/>
          <p:cNvSpPr txBox="1"/>
          <p:nvPr>
            <p:ph idx="4" type="subTitle"/>
          </p:nvPr>
        </p:nvSpPr>
        <p:spPr>
          <a:xfrm>
            <a:off x="5049600" y="3403575"/>
            <a:ext cx="2804100" cy="10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Extra simulations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DRC and LVS Verification</a:t>
            </a:r>
            <a:endParaRPr/>
          </a:p>
        </p:txBody>
      </p:sp>
      <p:sp>
        <p:nvSpPr>
          <p:cNvPr id="314" name="Google Shape;314;p38"/>
          <p:cNvSpPr txBox="1"/>
          <p:nvPr>
            <p:ph idx="5" type="title"/>
          </p:nvPr>
        </p:nvSpPr>
        <p:spPr>
          <a:xfrm>
            <a:off x="4774500" y="2730625"/>
            <a:ext cx="808500" cy="65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15" name="Google Shape;315;p38"/>
          <p:cNvSpPr txBox="1"/>
          <p:nvPr>
            <p:ph idx="6" type="subTitle"/>
          </p:nvPr>
        </p:nvSpPr>
        <p:spPr>
          <a:xfrm>
            <a:off x="5583000" y="2806825"/>
            <a:ext cx="3231000" cy="53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Backup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9"/>
          <p:cNvSpPr txBox="1"/>
          <p:nvPr>
            <p:ph type="title"/>
          </p:nvPr>
        </p:nvSpPr>
        <p:spPr>
          <a:xfrm>
            <a:off x="1330800" y="85400"/>
            <a:ext cx="6482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Analog VMM for Neural Networks</a:t>
            </a:r>
            <a:endParaRPr/>
          </a:p>
        </p:txBody>
      </p:sp>
      <p:sp>
        <p:nvSpPr>
          <p:cNvPr id="321" name="Google Shape;321;p39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2" name="Google Shape;322;p39" title="a-Single-layer-perceptron-with-four-inputs-and-two-outputs-b-General-computational.png"/>
          <p:cNvPicPr preferRelativeResize="0"/>
          <p:nvPr/>
        </p:nvPicPr>
        <p:blipFill rotWithShape="1">
          <a:blip r:embed="rId3">
            <a:alphaModFix/>
          </a:blip>
          <a:srcRect b="17546" l="0" r="0" t="0"/>
          <a:stretch/>
        </p:blipFill>
        <p:spPr>
          <a:xfrm>
            <a:off x="152400" y="810500"/>
            <a:ext cx="5942325" cy="344707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9"/>
          <p:cNvSpPr/>
          <p:nvPr/>
        </p:nvSpPr>
        <p:spPr>
          <a:xfrm>
            <a:off x="1749650" y="2352575"/>
            <a:ext cx="1433400" cy="57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4" name="Google Shape;324;p39"/>
          <p:cNvSpPr/>
          <p:nvPr/>
        </p:nvSpPr>
        <p:spPr>
          <a:xfrm>
            <a:off x="3289175" y="2144325"/>
            <a:ext cx="2862300" cy="2242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5" name="Google Shape;325;p39"/>
          <p:cNvSpPr/>
          <p:nvPr/>
        </p:nvSpPr>
        <p:spPr>
          <a:xfrm>
            <a:off x="1171500" y="3919850"/>
            <a:ext cx="2168700" cy="57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6" name="Google Shape;326;p39"/>
          <p:cNvSpPr/>
          <p:nvPr/>
        </p:nvSpPr>
        <p:spPr>
          <a:xfrm>
            <a:off x="977300" y="988375"/>
            <a:ext cx="846300" cy="57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7" name="Google Shape;327;p39"/>
          <p:cNvSpPr/>
          <p:nvPr/>
        </p:nvSpPr>
        <p:spPr>
          <a:xfrm>
            <a:off x="4148850" y="704325"/>
            <a:ext cx="846300" cy="393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8" name="Google Shape;328;p39"/>
          <p:cNvSpPr txBox="1"/>
          <p:nvPr/>
        </p:nvSpPr>
        <p:spPr>
          <a:xfrm>
            <a:off x="193800" y="4336475"/>
            <a:ext cx="8756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latin typeface="DM Sans"/>
                <a:ea typeface="DM Sans"/>
                <a:cs typeface="DM Sans"/>
                <a:sym typeface="DM Sans"/>
              </a:rPr>
              <a:t>Image adapted from: “</a:t>
            </a:r>
            <a:r>
              <a:rPr i="1" lang="en" sz="1000">
                <a:latin typeface="DM Sans"/>
                <a:ea typeface="DM Sans"/>
                <a:cs typeface="DM Sans"/>
                <a:sym typeface="DM Sans"/>
              </a:rPr>
              <a:t>Device and materials requirements for neuromorphic computing</a:t>
            </a:r>
            <a:r>
              <a:rPr i="1"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”, Journal of Physics, 2019.</a:t>
            </a:r>
            <a:endParaRPr i="1"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9" name="Google Shape;329;p39"/>
          <p:cNvSpPr txBox="1"/>
          <p:nvPr>
            <p:ph idx="4294967295" type="subTitle"/>
          </p:nvPr>
        </p:nvSpPr>
        <p:spPr>
          <a:xfrm>
            <a:off x="3078000" y="2352575"/>
            <a:ext cx="5872200" cy="18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All kinds of</a:t>
            </a:r>
            <a:r>
              <a:rPr lang="en"/>
              <a:t> Neural Networks rely on </a:t>
            </a:r>
            <a:r>
              <a:rPr b="1" lang="en"/>
              <a:t>vector–matrix multiplications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Digital implementations are </a:t>
            </a:r>
            <a:r>
              <a:rPr b="1" lang="en"/>
              <a:t>memory- and energy-bound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Analog current-mode VMM enables: in-memory computation, massive parallelism, low-energy MAC operations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Programmable current mirrors</a:t>
            </a:r>
            <a:r>
              <a:rPr lang="en"/>
              <a:t> naturally implement weighted current multiplication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0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5" name="Google Shape;33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800" y="776081"/>
            <a:ext cx="7848950" cy="356039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0"/>
          <p:cNvSpPr/>
          <p:nvPr/>
        </p:nvSpPr>
        <p:spPr>
          <a:xfrm>
            <a:off x="628925" y="814607"/>
            <a:ext cx="384600" cy="267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7" name="Google Shape;337;p40"/>
          <p:cNvSpPr/>
          <p:nvPr/>
        </p:nvSpPr>
        <p:spPr>
          <a:xfrm>
            <a:off x="4601550" y="780632"/>
            <a:ext cx="384600" cy="393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8" name="Google Shape;338;p40"/>
          <p:cNvSpPr txBox="1"/>
          <p:nvPr/>
        </p:nvSpPr>
        <p:spPr>
          <a:xfrm>
            <a:off x="193800" y="4336475"/>
            <a:ext cx="8756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Image from: “Analog Vector-Matrix Multiplier Based on Programmable Current Mirrors for Neural Network Integrated Circuits”, IEEE Access, 2020.</a:t>
            </a:r>
            <a:endParaRPr i="1"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9" name="Google Shape;339;p40"/>
          <p:cNvSpPr txBox="1"/>
          <p:nvPr>
            <p:ph type="title"/>
          </p:nvPr>
        </p:nvSpPr>
        <p:spPr>
          <a:xfrm>
            <a:off x="114413" y="167375"/>
            <a:ext cx="818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Current-Mirror-Based Analog Multiplication</a:t>
            </a:r>
            <a:endParaRPr/>
          </a:p>
        </p:txBody>
      </p:sp>
      <p:sp>
        <p:nvSpPr>
          <p:cNvPr id="340" name="Google Shape;340;p40"/>
          <p:cNvSpPr/>
          <p:nvPr/>
        </p:nvSpPr>
        <p:spPr>
          <a:xfrm>
            <a:off x="4509550" y="2629450"/>
            <a:ext cx="3362100" cy="1614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1" name="Google Shape;341;p40"/>
          <p:cNvSpPr txBox="1"/>
          <p:nvPr/>
        </p:nvSpPr>
        <p:spPr>
          <a:xfrm>
            <a:off x="7871650" y="2989209"/>
            <a:ext cx="1212600" cy="1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0000"/>
                </a:solidFill>
              </a:rPr>
              <a:t>Building block: </a:t>
            </a:r>
            <a:r>
              <a:rPr b="1" lang="en" sz="1100">
                <a:solidFill>
                  <a:srgbClr val="FF0000"/>
                </a:solidFill>
              </a:rPr>
              <a:t>FGCM (Floating-Gate Current Mirror)</a:t>
            </a:r>
            <a:endParaRPr>
              <a:solidFill>
                <a:srgbClr val="FF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342" name="Google Shape;342;p40"/>
          <p:cNvCxnSpPr/>
          <p:nvPr/>
        </p:nvCxnSpPr>
        <p:spPr>
          <a:xfrm>
            <a:off x="5396075" y="1650950"/>
            <a:ext cx="685800" cy="1605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3" name="Google Shape;343;p40"/>
          <p:cNvSpPr txBox="1"/>
          <p:nvPr/>
        </p:nvSpPr>
        <p:spPr>
          <a:xfrm>
            <a:off x="4509550" y="1174225"/>
            <a:ext cx="163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FF"/>
                </a:solidFill>
              </a:rPr>
              <a:t>Weight stored as </a:t>
            </a:r>
            <a:r>
              <a:rPr b="1" lang="en" sz="1100">
                <a:solidFill>
                  <a:srgbClr val="0000FF"/>
                </a:solidFill>
              </a:rPr>
              <a:t>floating-gate charge</a:t>
            </a:r>
            <a:endParaRPr>
              <a:solidFill>
                <a:srgbClr val="0000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1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9" name="Google Shape;349;p41"/>
          <p:cNvSpPr txBox="1"/>
          <p:nvPr>
            <p:ph idx="4294967295" type="title"/>
          </p:nvPr>
        </p:nvSpPr>
        <p:spPr>
          <a:xfrm>
            <a:off x="152221" y="150550"/>
            <a:ext cx="81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 Setup – FGCM Characterization</a:t>
            </a:r>
            <a:endParaRPr/>
          </a:p>
        </p:txBody>
      </p:sp>
      <p:pic>
        <p:nvPicPr>
          <p:cNvPr id="350" name="Google Shape;350;p41" title="FGcellp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825" y="947400"/>
            <a:ext cx="5104176" cy="3699449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41"/>
          <p:cNvSpPr txBox="1"/>
          <p:nvPr/>
        </p:nvSpPr>
        <p:spPr>
          <a:xfrm>
            <a:off x="5657150" y="981425"/>
            <a:ext cx="31296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Floating-Gate cell - schematic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2" name="Google Shape;352;p41"/>
          <p:cNvSpPr txBox="1"/>
          <p:nvPr>
            <p:ph idx="4294967295" type="subTitle"/>
          </p:nvPr>
        </p:nvSpPr>
        <p:spPr>
          <a:xfrm>
            <a:off x="5657150" y="1355525"/>
            <a:ext cx="3339300" cy="11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Cadence Virtuoso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Schematic Editor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UMC_18_CMOS</a:t>
            </a:r>
            <a:r>
              <a:rPr lang="en"/>
              <a:t>: PDK UMC 018 library</a:t>
            </a:r>
            <a:endParaRPr/>
          </a:p>
        </p:txBody>
      </p:sp>
      <p:sp>
        <p:nvSpPr>
          <p:cNvPr id="353" name="Google Shape;353;p41"/>
          <p:cNvSpPr txBox="1"/>
          <p:nvPr>
            <p:ph idx="4294967295" type="subTitle"/>
          </p:nvPr>
        </p:nvSpPr>
        <p:spPr>
          <a:xfrm>
            <a:off x="5657150" y="2766600"/>
            <a:ext cx="3339300" cy="11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PCAP P_33_MM with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width: M*W ;  length: M*L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NMOSN_33_MMwith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width: W ;  length: 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2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9" name="Google Shape;359;p42"/>
          <p:cNvSpPr txBox="1"/>
          <p:nvPr>
            <p:ph idx="4294967295" type="title"/>
          </p:nvPr>
        </p:nvSpPr>
        <p:spPr>
          <a:xfrm>
            <a:off x="152221" y="150550"/>
            <a:ext cx="81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 Setup – FGCM Characterization</a:t>
            </a:r>
            <a:endParaRPr/>
          </a:p>
        </p:txBody>
      </p:sp>
      <p:pic>
        <p:nvPicPr>
          <p:cNvPr id="360" name="Google Shape;360;p42" title="FGC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857" y="826426"/>
            <a:ext cx="6902650" cy="3969201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42"/>
          <p:cNvSpPr txBox="1"/>
          <p:nvPr/>
        </p:nvSpPr>
        <p:spPr>
          <a:xfrm>
            <a:off x="2067540" y="893275"/>
            <a:ext cx="2849100" cy="37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Floating-Gate CM - schematic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362" name="Google Shape;362;p42"/>
          <p:cNvCxnSpPr/>
          <p:nvPr/>
        </p:nvCxnSpPr>
        <p:spPr>
          <a:xfrm rot="10800000">
            <a:off x="1380393" y="1599200"/>
            <a:ext cx="1102800" cy="559800"/>
          </a:xfrm>
          <a:prstGeom prst="straightConnector1">
            <a:avLst/>
          </a:prstGeom>
          <a:noFill/>
          <a:ln cap="flat" cmpd="sng" w="952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3" name="Google Shape;363;p42"/>
          <p:cNvCxnSpPr/>
          <p:nvPr/>
        </p:nvCxnSpPr>
        <p:spPr>
          <a:xfrm rot="10800000">
            <a:off x="1839943" y="1549125"/>
            <a:ext cx="651600" cy="100200"/>
          </a:xfrm>
          <a:prstGeom prst="straightConnector1">
            <a:avLst/>
          </a:prstGeom>
          <a:noFill/>
          <a:ln cap="flat" cmpd="sng" w="9525">
            <a:solidFill>
              <a:srgbClr val="00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4" name="Google Shape;364;p42"/>
          <p:cNvSpPr txBox="1"/>
          <p:nvPr/>
        </p:nvSpPr>
        <p:spPr>
          <a:xfrm>
            <a:off x="2468493" y="1462466"/>
            <a:ext cx="2047200" cy="3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FFFF"/>
                </a:solidFill>
                <a:latin typeface="DM Sans"/>
                <a:ea typeface="DM Sans"/>
                <a:cs typeface="DM Sans"/>
                <a:sym typeface="DM Sans"/>
              </a:rPr>
              <a:t>Pulse to generate offset</a:t>
            </a:r>
            <a:endParaRPr i="1" sz="1300">
              <a:solidFill>
                <a:srgbClr val="00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5" name="Google Shape;365;p42"/>
          <p:cNvSpPr txBox="1"/>
          <p:nvPr/>
        </p:nvSpPr>
        <p:spPr>
          <a:xfrm>
            <a:off x="2466483" y="1975186"/>
            <a:ext cx="1178100" cy="3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FF"/>
                </a:solidFill>
                <a:latin typeface="DM Sans"/>
                <a:ea typeface="DM Sans"/>
                <a:cs typeface="DM Sans"/>
                <a:sym typeface="DM Sans"/>
              </a:rPr>
              <a:t>Sine (input)</a:t>
            </a:r>
            <a:endParaRPr i="1" sz="1300">
              <a:solidFill>
                <a:srgbClr val="FF00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6" name="Google Shape;366;p42"/>
          <p:cNvSpPr/>
          <p:nvPr/>
        </p:nvSpPr>
        <p:spPr>
          <a:xfrm>
            <a:off x="5006475" y="2635250"/>
            <a:ext cx="142200" cy="208800"/>
          </a:xfrm>
          <a:prstGeom prst="ellipse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7" name="Google Shape;367;p42"/>
          <p:cNvSpPr txBox="1"/>
          <p:nvPr/>
        </p:nvSpPr>
        <p:spPr>
          <a:xfrm>
            <a:off x="5148675" y="2421300"/>
            <a:ext cx="802200" cy="3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baseline="-25000" lang="en">
                <a:solidFill>
                  <a:srgbClr val="FF9900"/>
                </a:solidFill>
                <a:latin typeface="DM Sans"/>
                <a:ea typeface="DM Sans"/>
                <a:cs typeface="DM Sans"/>
                <a:sym typeface="DM Sans"/>
              </a:rPr>
              <a:t>out</a:t>
            </a:r>
            <a:endParaRPr baseline="-25000">
              <a:solidFill>
                <a:srgbClr val="FF99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8" name="Google Shape;368;p42"/>
          <p:cNvSpPr txBox="1"/>
          <p:nvPr/>
        </p:nvSpPr>
        <p:spPr>
          <a:xfrm>
            <a:off x="7588250" y="1016625"/>
            <a:ext cx="1581000" cy="37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DM Sans"/>
                <a:ea typeface="DM Sans"/>
                <a:cs typeface="DM Sans"/>
                <a:sym typeface="DM Sans"/>
              </a:rPr>
              <a:t>Floating-Gate charge</a:t>
            </a:r>
            <a:endParaRPr>
              <a:solidFill>
                <a:srgbClr val="0000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9" name="Google Shape;369;p42"/>
          <p:cNvSpPr txBox="1"/>
          <p:nvPr>
            <p:ph idx="4294967295" type="subTitle"/>
          </p:nvPr>
        </p:nvSpPr>
        <p:spPr>
          <a:xfrm>
            <a:off x="7705229" y="2040675"/>
            <a:ext cx="1642200" cy="25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Qfgi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Qfg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Ipk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fre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Vds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tpre</a:t>
            </a:r>
            <a:endParaRPr/>
          </a:p>
        </p:txBody>
      </p:sp>
      <p:sp>
        <p:nvSpPr>
          <p:cNvPr id="370" name="Google Shape;370;p42"/>
          <p:cNvSpPr txBox="1"/>
          <p:nvPr/>
        </p:nvSpPr>
        <p:spPr>
          <a:xfrm>
            <a:off x="7828550" y="1684100"/>
            <a:ext cx="19485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Parameters</a:t>
            </a:r>
            <a:endParaRPr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371" name="Google Shape;371;p42"/>
          <p:cNvCxnSpPr/>
          <p:nvPr/>
        </p:nvCxnSpPr>
        <p:spPr>
          <a:xfrm flipH="1">
            <a:off x="6803150" y="1448800"/>
            <a:ext cx="785100" cy="2022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3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7" name="Google Shape;377;p43"/>
          <p:cNvSpPr txBox="1"/>
          <p:nvPr>
            <p:ph idx="4294967295" type="title"/>
          </p:nvPr>
        </p:nvSpPr>
        <p:spPr>
          <a:xfrm>
            <a:off x="152221" y="150550"/>
            <a:ext cx="81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Multiplication Factor vs FG Charge</a:t>
            </a:r>
            <a:endParaRPr/>
          </a:p>
        </p:txBody>
      </p:sp>
      <p:sp>
        <p:nvSpPr>
          <p:cNvPr id="378" name="Google Shape;378;p43"/>
          <p:cNvSpPr txBox="1"/>
          <p:nvPr>
            <p:ph idx="4294967295" type="subTitle"/>
          </p:nvPr>
        </p:nvSpPr>
        <p:spPr>
          <a:xfrm>
            <a:off x="3466668" y="1219793"/>
            <a:ext cx="5059500" cy="21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Study of the multiplication factor of a FGCM cell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Input cell: </a:t>
            </a:r>
            <a:r>
              <a:rPr b="1" lang="en"/>
              <a:t>null floating-gate charge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Weight programmed by tweaking the </a:t>
            </a:r>
            <a:r>
              <a:rPr b="1" lang="en"/>
              <a:t>floating-gate charge</a:t>
            </a:r>
            <a:r>
              <a:rPr lang="en"/>
              <a:t> of the output FG cell (linear sweep)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Transient analysis 0-26ms, conservative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Goal: evaluate monotonicity and usable range</a:t>
            </a:r>
            <a:endParaRPr/>
          </a:p>
        </p:txBody>
      </p:sp>
      <p:pic>
        <p:nvPicPr>
          <p:cNvPr id="379" name="Google Shape;379;p43" title="v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840" y="1250188"/>
            <a:ext cx="2514600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43" title="facto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2159" y="3033953"/>
            <a:ext cx="1488521" cy="78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4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6" name="Google Shape;386;p44"/>
          <p:cNvSpPr txBox="1"/>
          <p:nvPr>
            <p:ph idx="4294967295" type="title"/>
          </p:nvPr>
        </p:nvSpPr>
        <p:spPr>
          <a:xfrm>
            <a:off x="152221" y="150550"/>
            <a:ext cx="81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Multiplication Factor vs FG Charge</a:t>
            </a:r>
            <a:endParaRPr/>
          </a:p>
        </p:txBody>
      </p:sp>
      <p:pic>
        <p:nvPicPr>
          <p:cNvPr id="387" name="Google Shape;387;p44" title="t1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225" y="1307750"/>
            <a:ext cx="4744075" cy="339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44" title="t1b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3650" y="828325"/>
            <a:ext cx="5022324" cy="3553651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89" name="Google Shape;389;p44"/>
          <p:cNvSpPr txBox="1"/>
          <p:nvPr/>
        </p:nvSpPr>
        <p:spPr>
          <a:xfrm>
            <a:off x="834100" y="1693925"/>
            <a:ext cx="4119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baseline="-25000" lang="en">
                <a:solidFill>
                  <a:srgbClr val="FF00FF"/>
                </a:solidFill>
                <a:latin typeface="DM Sans"/>
                <a:ea typeface="DM Sans"/>
                <a:cs typeface="DM Sans"/>
                <a:sym typeface="DM Sans"/>
              </a:rPr>
              <a:t>in</a:t>
            </a:r>
            <a:endParaRPr baseline="-25000">
              <a:solidFill>
                <a:srgbClr val="FF00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0" name="Google Shape;390;p44"/>
          <p:cNvSpPr txBox="1"/>
          <p:nvPr/>
        </p:nvSpPr>
        <p:spPr>
          <a:xfrm>
            <a:off x="6849400" y="1007450"/>
            <a:ext cx="1347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0000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baseline="-25000" lang="en">
                <a:solidFill>
                  <a:srgbClr val="CC0000"/>
                </a:solidFill>
                <a:latin typeface="DM Sans"/>
                <a:ea typeface="DM Sans"/>
                <a:cs typeface="DM Sans"/>
                <a:sym typeface="DM Sans"/>
              </a:rPr>
              <a:t>out</a:t>
            </a:r>
            <a:r>
              <a:rPr lang="en">
                <a:solidFill>
                  <a:srgbClr val="CC0000"/>
                </a:solidFill>
                <a:latin typeface="DM Sans"/>
                <a:ea typeface="DM Sans"/>
                <a:cs typeface="DM Sans"/>
                <a:sym typeface="DM Sans"/>
              </a:rPr>
              <a:t>(Qfg = -1fC)</a:t>
            </a:r>
            <a:endParaRPr>
              <a:solidFill>
                <a:srgbClr val="CC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1" name="Google Shape;391;p44"/>
          <p:cNvSpPr txBox="1"/>
          <p:nvPr/>
        </p:nvSpPr>
        <p:spPr>
          <a:xfrm>
            <a:off x="5432950" y="3768325"/>
            <a:ext cx="1347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FF00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baseline="-25000" lang="en">
                <a:solidFill>
                  <a:srgbClr val="00FF00"/>
                </a:solidFill>
                <a:latin typeface="DM Sans"/>
                <a:ea typeface="DM Sans"/>
                <a:cs typeface="DM Sans"/>
                <a:sym typeface="DM Sans"/>
              </a:rPr>
              <a:t>out</a:t>
            </a:r>
            <a:r>
              <a:rPr lang="en">
                <a:solidFill>
                  <a:srgbClr val="00FF00"/>
                </a:solidFill>
                <a:latin typeface="DM Sans"/>
                <a:ea typeface="DM Sans"/>
                <a:cs typeface="DM Sans"/>
                <a:sym typeface="DM Sans"/>
              </a:rPr>
              <a:t>(Qfg = +1fC)</a:t>
            </a:r>
            <a:endParaRPr>
              <a:solidFill>
                <a:srgbClr val="00FF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5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7" name="Google Shape;397;p45"/>
          <p:cNvSpPr txBox="1"/>
          <p:nvPr>
            <p:ph idx="4294967295" type="title"/>
          </p:nvPr>
        </p:nvSpPr>
        <p:spPr>
          <a:xfrm>
            <a:off x="152221" y="150550"/>
            <a:ext cx="81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Multiplication Factor vs FG Charge</a:t>
            </a:r>
            <a:endParaRPr/>
          </a:p>
        </p:txBody>
      </p:sp>
      <p:pic>
        <p:nvPicPr>
          <p:cNvPr id="398" name="Google Shape;398;p45" title="t1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513" y="964025"/>
            <a:ext cx="8536970" cy="38132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9" name="Google Shape;399;p45"/>
          <p:cNvCxnSpPr/>
          <p:nvPr/>
        </p:nvCxnSpPr>
        <p:spPr>
          <a:xfrm rot="10800000">
            <a:off x="4235400" y="2132400"/>
            <a:ext cx="0" cy="2293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0" name="Google Shape;400;p45"/>
          <p:cNvSpPr txBox="1"/>
          <p:nvPr/>
        </p:nvSpPr>
        <p:spPr>
          <a:xfrm>
            <a:off x="4422200" y="1855075"/>
            <a:ext cx="1877400" cy="1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DM Sans"/>
                <a:ea typeface="DM Sans"/>
                <a:cs typeface="DM Sans"/>
                <a:sym typeface="DM Sans"/>
              </a:rPr>
              <a:t>Mult. factor increases with the diminishing of Qfg (monotonic)</a:t>
            </a:r>
            <a:endParaRPr>
              <a:solidFill>
                <a:srgbClr val="FF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1" name="Google Shape;401;p45"/>
          <p:cNvSpPr txBox="1"/>
          <p:nvPr/>
        </p:nvSpPr>
        <p:spPr>
          <a:xfrm>
            <a:off x="6752575" y="1327975"/>
            <a:ext cx="13965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Non-linearity around zero</a:t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402" name="Google Shape;402;p45"/>
          <p:cNvCxnSpPr/>
          <p:nvPr/>
        </p:nvCxnSpPr>
        <p:spPr>
          <a:xfrm flipH="1">
            <a:off x="713925" y="2752075"/>
            <a:ext cx="684300" cy="1146600"/>
          </a:xfrm>
          <a:prstGeom prst="straightConnector1">
            <a:avLst/>
          </a:prstGeom>
          <a:noFill/>
          <a:ln cap="flat" cmpd="sng" w="9525">
            <a:solidFill>
              <a:srgbClr val="E76A2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3" name="Google Shape;403;p45"/>
          <p:cNvSpPr txBox="1"/>
          <p:nvPr/>
        </p:nvSpPr>
        <p:spPr>
          <a:xfrm>
            <a:off x="907875" y="2437650"/>
            <a:ext cx="13965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E76A28"/>
                </a:solidFill>
                <a:latin typeface="DM Sans"/>
                <a:ea typeface="DM Sans"/>
                <a:cs typeface="DM Sans"/>
                <a:sym typeface="DM Sans"/>
              </a:rPr>
              <a:t>Qfg = -100aC</a:t>
            </a:r>
            <a:endParaRPr>
              <a:solidFill>
                <a:srgbClr val="E76A2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6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9" name="Google Shape;409;p46"/>
          <p:cNvSpPr txBox="1"/>
          <p:nvPr>
            <p:ph idx="4294967295" type="title"/>
          </p:nvPr>
        </p:nvSpPr>
        <p:spPr>
          <a:xfrm>
            <a:off x="152221" y="150550"/>
            <a:ext cx="81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ENOB Analysis of the FGCM</a:t>
            </a:r>
            <a:endParaRPr/>
          </a:p>
        </p:txBody>
      </p:sp>
      <p:sp>
        <p:nvSpPr>
          <p:cNvPr id="410" name="Google Shape;410;p46"/>
          <p:cNvSpPr txBox="1"/>
          <p:nvPr>
            <p:ph idx="4294967295" type="subTitle"/>
          </p:nvPr>
        </p:nvSpPr>
        <p:spPr>
          <a:xfrm>
            <a:off x="1488900" y="1049575"/>
            <a:ext cx="6166200" cy="15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Study of the </a:t>
            </a:r>
            <a:r>
              <a:rPr lang="en"/>
              <a:t>Effective Number Of Bits as performance metric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Effective resolution of analog multiplication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Floating-gate charge </a:t>
            </a:r>
            <a:r>
              <a:rPr lang="en"/>
              <a:t>of the output FG cell: Qfg = -80aC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Same parameter values as previous analysis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Parameter sweep: M (1-10, 10 steps)</a:t>
            </a:r>
            <a:endParaRPr/>
          </a:p>
        </p:txBody>
      </p:sp>
      <p:pic>
        <p:nvPicPr>
          <p:cNvPr id="411" name="Google Shape;41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2100" y="3011825"/>
            <a:ext cx="2820475" cy="77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1438" y="2707525"/>
            <a:ext cx="3975300" cy="138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7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8" name="Google Shape;418;p47"/>
          <p:cNvSpPr txBox="1"/>
          <p:nvPr>
            <p:ph idx="4294967295" type="title"/>
          </p:nvPr>
        </p:nvSpPr>
        <p:spPr>
          <a:xfrm>
            <a:off x="152221" y="150550"/>
            <a:ext cx="81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ENOB Analysis of the FGCM</a:t>
            </a:r>
            <a:endParaRPr/>
          </a:p>
        </p:txBody>
      </p:sp>
      <p:pic>
        <p:nvPicPr>
          <p:cNvPr id="419" name="Google Shape;419;p47" title="t2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863" y="980375"/>
            <a:ext cx="5571876" cy="3860925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47"/>
          <p:cNvSpPr txBox="1"/>
          <p:nvPr/>
        </p:nvSpPr>
        <p:spPr>
          <a:xfrm>
            <a:off x="2576450" y="3306950"/>
            <a:ext cx="7767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0000"/>
                </a:solidFill>
                <a:latin typeface="DM Sans"/>
                <a:ea typeface="DM Sans"/>
                <a:cs typeface="DM Sans"/>
                <a:sym typeface="DM Sans"/>
              </a:rPr>
              <a:t>M=1</a:t>
            </a:r>
            <a:endParaRPr>
              <a:solidFill>
                <a:srgbClr val="CC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1" name="Google Shape;421;p47"/>
          <p:cNvSpPr txBox="1"/>
          <p:nvPr/>
        </p:nvSpPr>
        <p:spPr>
          <a:xfrm>
            <a:off x="2576450" y="2488345"/>
            <a:ext cx="7767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1C232"/>
                </a:solidFill>
                <a:latin typeface="DM Sans"/>
                <a:ea typeface="DM Sans"/>
                <a:cs typeface="DM Sans"/>
                <a:sym typeface="DM Sans"/>
              </a:rPr>
              <a:t>M=2</a:t>
            </a:r>
            <a:endParaRPr>
              <a:solidFill>
                <a:srgbClr val="F1C23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2" name="Google Shape;422;p47"/>
          <p:cNvSpPr txBox="1"/>
          <p:nvPr/>
        </p:nvSpPr>
        <p:spPr>
          <a:xfrm>
            <a:off x="1952091" y="1549550"/>
            <a:ext cx="9639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M=3,…10</a:t>
            </a:r>
            <a:endParaRPr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23" name="Google Shape;423;p47" title="t2b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0787" y="723250"/>
            <a:ext cx="5424351" cy="36564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4" name="Google Shape;424;p47"/>
          <p:cNvSpPr txBox="1"/>
          <p:nvPr/>
        </p:nvSpPr>
        <p:spPr>
          <a:xfrm>
            <a:off x="893953" y="1041300"/>
            <a:ext cx="14529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Output current</a:t>
            </a:r>
            <a:endParaRPr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8"/>
          <p:cNvSpPr txBox="1"/>
          <p:nvPr>
            <p:ph idx="4294967295" type="title"/>
          </p:nvPr>
        </p:nvSpPr>
        <p:spPr>
          <a:xfrm>
            <a:off x="979788" y="0"/>
            <a:ext cx="718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Layout of the Floating-Gate Cell</a:t>
            </a:r>
            <a:endParaRPr/>
          </a:p>
        </p:txBody>
      </p:sp>
      <p:sp>
        <p:nvSpPr>
          <p:cNvPr id="430" name="Google Shape;430;p48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1" name="Google Shape;431;p48"/>
          <p:cNvSpPr txBox="1"/>
          <p:nvPr/>
        </p:nvSpPr>
        <p:spPr>
          <a:xfrm>
            <a:off x="5657150" y="981425"/>
            <a:ext cx="31296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Floating-Gate cell - schematic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32" name="Google Shape;432;p48"/>
          <p:cNvSpPr txBox="1"/>
          <p:nvPr>
            <p:ph idx="4294967295" type="subTitle"/>
          </p:nvPr>
        </p:nvSpPr>
        <p:spPr>
          <a:xfrm>
            <a:off x="5657150" y="1355525"/>
            <a:ext cx="3339300" cy="13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Cadence Virtuoso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Schematic Editor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UMC_18_CMOS</a:t>
            </a:r>
            <a:r>
              <a:rPr lang="en"/>
              <a:t>: PDK UMC 018 library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Used for verifications</a:t>
            </a:r>
            <a:endParaRPr/>
          </a:p>
        </p:txBody>
      </p:sp>
      <p:sp>
        <p:nvSpPr>
          <p:cNvPr id="433" name="Google Shape;433;p48"/>
          <p:cNvSpPr txBox="1"/>
          <p:nvPr>
            <p:ph idx="4294967295" type="subTitle"/>
          </p:nvPr>
        </p:nvSpPr>
        <p:spPr>
          <a:xfrm>
            <a:off x="5657150" y="2951550"/>
            <a:ext cx="3339300" cy="11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PCAP P_33_MM with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width: 3µm ;  length: </a:t>
            </a:r>
            <a:r>
              <a:rPr lang="en"/>
              <a:t>3µm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NMOSN_33_MMwith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width: 1</a:t>
            </a:r>
            <a:r>
              <a:rPr lang="en"/>
              <a:t>µm</a:t>
            </a:r>
            <a:r>
              <a:rPr lang="en"/>
              <a:t> ;  length: 1</a:t>
            </a:r>
            <a:r>
              <a:rPr lang="en"/>
              <a:t>µm</a:t>
            </a:r>
            <a:endParaRPr/>
          </a:p>
        </p:txBody>
      </p:sp>
      <p:pic>
        <p:nvPicPr>
          <p:cNvPr id="434" name="Google Shape;434;p48" title="FGcell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825" y="842700"/>
            <a:ext cx="5104174" cy="3700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9"/>
          <p:cNvSpPr txBox="1"/>
          <p:nvPr>
            <p:ph idx="4294967295" type="title"/>
          </p:nvPr>
        </p:nvSpPr>
        <p:spPr>
          <a:xfrm>
            <a:off x="979788" y="0"/>
            <a:ext cx="718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Layout of the Floating-Gate Cell</a:t>
            </a:r>
            <a:endParaRPr/>
          </a:p>
        </p:txBody>
      </p:sp>
      <p:sp>
        <p:nvSpPr>
          <p:cNvPr id="440" name="Google Shape;440;p49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41" name="Google Shape;441;p49" title="FGcel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026" y="779875"/>
            <a:ext cx="4077351" cy="399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49" title="FGinpu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3416" y="779875"/>
            <a:ext cx="4545560" cy="399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9"/>
          <p:cNvSpPr txBox="1"/>
          <p:nvPr/>
        </p:nvSpPr>
        <p:spPr>
          <a:xfrm>
            <a:off x="556700" y="921050"/>
            <a:ext cx="9804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FG Cell</a:t>
            </a:r>
            <a:endParaRPr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44" name="Google Shape;444;p49"/>
          <p:cNvSpPr txBox="1"/>
          <p:nvPr/>
        </p:nvSpPr>
        <p:spPr>
          <a:xfrm>
            <a:off x="4704075" y="921050"/>
            <a:ext cx="15585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FG Input Cell</a:t>
            </a:r>
            <a:endParaRPr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445" name="Google Shape;445;p49"/>
          <p:cNvCxnSpPr/>
          <p:nvPr/>
        </p:nvCxnSpPr>
        <p:spPr>
          <a:xfrm>
            <a:off x="1342750" y="3778550"/>
            <a:ext cx="333000" cy="582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6" name="Google Shape;446;p49"/>
          <p:cNvSpPr txBox="1"/>
          <p:nvPr/>
        </p:nvSpPr>
        <p:spPr>
          <a:xfrm>
            <a:off x="1675750" y="4215950"/>
            <a:ext cx="1211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0000"/>
                </a:solidFill>
              </a:rPr>
              <a:t>Substrate tap</a:t>
            </a:r>
            <a:endParaRPr sz="1100">
              <a:solidFill>
                <a:srgbClr val="FF0000"/>
              </a:solidFill>
            </a:endParaRPr>
          </a:p>
        </p:txBody>
      </p:sp>
      <p:cxnSp>
        <p:nvCxnSpPr>
          <p:cNvPr id="447" name="Google Shape;447;p49"/>
          <p:cNvCxnSpPr/>
          <p:nvPr/>
        </p:nvCxnSpPr>
        <p:spPr>
          <a:xfrm rot="10800000">
            <a:off x="2711325" y="1300200"/>
            <a:ext cx="277500" cy="425400"/>
          </a:xfrm>
          <a:prstGeom prst="straightConnector1">
            <a:avLst/>
          </a:prstGeom>
          <a:noFill/>
          <a:ln cap="flat" cmpd="sng" w="9525">
            <a:solidFill>
              <a:srgbClr val="00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8" name="Google Shape;448;p49"/>
          <p:cNvSpPr txBox="1"/>
          <p:nvPr/>
        </p:nvSpPr>
        <p:spPr>
          <a:xfrm>
            <a:off x="1907025" y="1057725"/>
            <a:ext cx="1211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FFFF"/>
                </a:solidFill>
              </a:rPr>
              <a:t>N-Well tap</a:t>
            </a:r>
            <a:endParaRPr sz="1100">
              <a:solidFill>
                <a:srgbClr val="00FF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0"/>
          <p:cNvSpPr txBox="1"/>
          <p:nvPr>
            <p:ph idx="4294967295" type="title"/>
          </p:nvPr>
        </p:nvSpPr>
        <p:spPr>
          <a:xfrm>
            <a:off x="979788" y="0"/>
            <a:ext cx="718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Layout of the 4×4 CMVMM</a:t>
            </a:r>
            <a:endParaRPr/>
          </a:p>
        </p:txBody>
      </p:sp>
      <p:sp>
        <p:nvSpPr>
          <p:cNvPr id="454" name="Google Shape;454;p50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55" name="Google Shape;455;p50" title="CMVM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9738" y="666900"/>
            <a:ext cx="5344526" cy="4134799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50"/>
          <p:cNvSpPr/>
          <p:nvPr/>
        </p:nvSpPr>
        <p:spPr>
          <a:xfrm>
            <a:off x="1980825" y="699125"/>
            <a:ext cx="1044900" cy="4059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7" name="Google Shape;457;p50"/>
          <p:cNvSpPr/>
          <p:nvPr/>
        </p:nvSpPr>
        <p:spPr>
          <a:xfrm>
            <a:off x="3090550" y="699200"/>
            <a:ext cx="4105800" cy="4059600"/>
          </a:xfrm>
          <a:prstGeom prst="rect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458" name="Google Shape;458;p50"/>
          <p:cNvCxnSpPr>
            <a:stCxn id="456" idx="1"/>
          </p:cNvCxnSpPr>
          <p:nvPr/>
        </p:nvCxnSpPr>
        <p:spPr>
          <a:xfrm rot="10800000">
            <a:off x="1388925" y="2345225"/>
            <a:ext cx="591900" cy="383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9" name="Google Shape;459;p50"/>
          <p:cNvCxnSpPr>
            <a:stCxn id="457" idx="3"/>
          </p:cNvCxnSpPr>
          <p:nvPr/>
        </p:nvCxnSpPr>
        <p:spPr>
          <a:xfrm flipH="1" rot="10800000">
            <a:off x="7196350" y="2299100"/>
            <a:ext cx="277500" cy="4299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0" name="Google Shape;460;p50"/>
          <p:cNvSpPr txBox="1"/>
          <p:nvPr/>
        </p:nvSpPr>
        <p:spPr>
          <a:xfrm>
            <a:off x="170300" y="1627475"/>
            <a:ext cx="17457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0000"/>
                </a:solidFill>
              </a:rPr>
              <a:t>4 input cells (short circuit between D and CG)</a:t>
            </a:r>
            <a:endParaRPr sz="11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0000"/>
                </a:solidFill>
              </a:rPr>
              <a:t>Input currents on CG Metal1 lines</a:t>
            </a:r>
            <a:endParaRPr sz="1100">
              <a:solidFill>
                <a:srgbClr val="FF0000"/>
              </a:solidFill>
            </a:endParaRPr>
          </a:p>
        </p:txBody>
      </p:sp>
      <p:sp>
        <p:nvSpPr>
          <p:cNvPr id="461" name="Google Shape;461;p50"/>
          <p:cNvSpPr txBox="1"/>
          <p:nvPr/>
        </p:nvSpPr>
        <p:spPr>
          <a:xfrm>
            <a:off x="7398300" y="1488800"/>
            <a:ext cx="17457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761D"/>
                </a:solidFill>
              </a:rPr>
              <a:t>4x4 Analog Vector Matrix Multiplier</a:t>
            </a:r>
            <a:endParaRPr sz="11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761D"/>
                </a:solidFill>
              </a:rPr>
              <a:t>Output currents on D Metal2 lines to P-Mirrors</a:t>
            </a:r>
            <a:endParaRPr sz="1100">
              <a:solidFill>
                <a:srgbClr val="38761D"/>
              </a:solidFill>
            </a:endParaRPr>
          </a:p>
        </p:txBody>
      </p:sp>
      <p:sp>
        <p:nvSpPr>
          <p:cNvPr id="462" name="Google Shape;462;p50"/>
          <p:cNvSpPr txBox="1"/>
          <p:nvPr>
            <p:ph idx="4294967295" type="subTitle"/>
          </p:nvPr>
        </p:nvSpPr>
        <p:spPr>
          <a:xfrm>
            <a:off x="7261175" y="2728925"/>
            <a:ext cx="1960500" cy="15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Modular structure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Scalable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</a:t>
            </a:r>
            <a:endParaRPr/>
          </a:p>
        </p:txBody>
      </p:sp>
      <p:sp>
        <p:nvSpPr>
          <p:cNvPr id="463" name="Google Shape;463;p50"/>
          <p:cNvSpPr/>
          <p:nvPr/>
        </p:nvSpPr>
        <p:spPr>
          <a:xfrm>
            <a:off x="8167475" y="3112725"/>
            <a:ext cx="147900" cy="383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1"/>
          <p:cNvSpPr txBox="1"/>
          <p:nvPr>
            <p:ph type="title"/>
          </p:nvPr>
        </p:nvSpPr>
        <p:spPr>
          <a:xfrm>
            <a:off x="778525" y="16311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Thanks for the attention</a:t>
            </a:r>
            <a:r>
              <a:rPr lang="en" sz="3900"/>
              <a:t>!</a:t>
            </a:r>
            <a:endParaRPr sz="3900"/>
          </a:p>
        </p:txBody>
      </p:sp>
      <p:sp>
        <p:nvSpPr>
          <p:cNvPr id="469" name="Google Shape;469;p51"/>
          <p:cNvSpPr txBox="1"/>
          <p:nvPr>
            <p:ph idx="12" type="sldNum"/>
          </p:nvPr>
        </p:nvSpPr>
        <p:spPr>
          <a:xfrm>
            <a:off x="8595309" y="48326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0" name="Google Shape;470;p51"/>
          <p:cNvSpPr txBox="1"/>
          <p:nvPr/>
        </p:nvSpPr>
        <p:spPr>
          <a:xfrm>
            <a:off x="122107" y="4449587"/>
            <a:ext cx="9044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[1] M. Paliy et al., </a:t>
            </a:r>
            <a:r>
              <a:rPr i="1"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“Analog Vector-Matrix Multiplier Based on Programmable Current Mirrors for Neural Network Integrated Circuits”, IEEE Access, 2020.</a:t>
            </a:r>
            <a:endParaRPr i="1"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1" name="Google Shape;471;p51"/>
          <p:cNvSpPr txBox="1"/>
          <p:nvPr/>
        </p:nvSpPr>
        <p:spPr>
          <a:xfrm>
            <a:off x="122107" y="4176225"/>
            <a:ext cx="14703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References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2"/>
          <p:cNvSpPr txBox="1"/>
          <p:nvPr>
            <p:ph idx="4294967295" type="title"/>
          </p:nvPr>
        </p:nvSpPr>
        <p:spPr>
          <a:xfrm>
            <a:off x="979788" y="0"/>
            <a:ext cx="718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Backup n.1: extra simulations</a:t>
            </a:r>
            <a:endParaRPr/>
          </a:p>
        </p:txBody>
      </p:sp>
      <p:sp>
        <p:nvSpPr>
          <p:cNvPr id="477" name="Google Shape;477;p52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78" name="Google Shape;478;p52" title="t2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665" y="915650"/>
            <a:ext cx="5424374" cy="3838144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52"/>
          <p:cNvSpPr txBox="1"/>
          <p:nvPr/>
        </p:nvSpPr>
        <p:spPr>
          <a:xfrm>
            <a:off x="2792291" y="3653950"/>
            <a:ext cx="14529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L=0.5,...3µm</a:t>
            </a:r>
            <a:endParaRPr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0" name="Google Shape;480;p52"/>
          <p:cNvSpPr txBox="1"/>
          <p:nvPr/>
        </p:nvSpPr>
        <p:spPr>
          <a:xfrm>
            <a:off x="3434238" y="1392725"/>
            <a:ext cx="12261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0000"/>
                </a:solidFill>
                <a:latin typeface="DM Sans"/>
                <a:ea typeface="DM Sans"/>
                <a:cs typeface="DM Sans"/>
                <a:sym typeface="DM Sans"/>
              </a:rPr>
              <a:t>L=300nm</a:t>
            </a:r>
            <a:endParaRPr>
              <a:solidFill>
                <a:srgbClr val="CC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1" name="Google Shape;481;p52"/>
          <p:cNvSpPr txBox="1"/>
          <p:nvPr/>
        </p:nvSpPr>
        <p:spPr>
          <a:xfrm>
            <a:off x="3434236" y="1831775"/>
            <a:ext cx="13278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1C232"/>
                </a:solidFill>
                <a:latin typeface="DM Sans"/>
                <a:ea typeface="DM Sans"/>
                <a:cs typeface="DM Sans"/>
                <a:sym typeface="DM Sans"/>
              </a:rPr>
              <a:t>L=400nm</a:t>
            </a:r>
            <a:endParaRPr>
              <a:solidFill>
                <a:srgbClr val="F1C23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2" name="Google Shape;482;p52"/>
          <p:cNvSpPr txBox="1"/>
          <p:nvPr>
            <p:ph idx="4294967295" type="subTitle"/>
          </p:nvPr>
        </p:nvSpPr>
        <p:spPr>
          <a:xfrm>
            <a:off x="5652038" y="1502700"/>
            <a:ext cx="3264300" cy="15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Study of ENOB vs 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Floating-gate charge of the output FG cell: Qfg = -80aC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Parameter sweep: L (100nm-</a:t>
            </a:r>
            <a:r>
              <a:rPr lang="en"/>
              <a:t>3µm</a:t>
            </a:r>
            <a:r>
              <a:rPr lang="en"/>
              <a:t>, steps of 100nm)</a:t>
            </a:r>
            <a:endParaRPr/>
          </a:p>
        </p:txBody>
      </p:sp>
      <p:sp>
        <p:nvSpPr>
          <p:cNvPr id="483" name="Google Shape;483;p52"/>
          <p:cNvSpPr txBox="1"/>
          <p:nvPr/>
        </p:nvSpPr>
        <p:spPr>
          <a:xfrm>
            <a:off x="947216" y="1041300"/>
            <a:ext cx="14529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Output current</a:t>
            </a:r>
            <a:endParaRPr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84" name="Google Shape;484;p52" title="t2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2282" y="572700"/>
            <a:ext cx="6115854" cy="383815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3"/>
          <p:cNvSpPr txBox="1"/>
          <p:nvPr>
            <p:ph idx="4294967295" type="title"/>
          </p:nvPr>
        </p:nvSpPr>
        <p:spPr>
          <a:xfrm>
            <a:off x="979788" y="0"/>
            <a:ext cx="718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Backup n.2: DRC &amp; LVS Verification</a:t>
            </a:r>
            <a:endParaRPr/>
          </a:p>
        </p:txBody>
      </p:sp>
      <p:sp>
        <p:nvSpPr>
          <p:cNvPr id="490" name="Google Shape;490;p53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91" name="Google Shape;491;p53" title="CMVMM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988" y="618950"/>
            <a:ext cx="7434024" cy="4127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4"/>
          <p:cNvSpPr txBox="1"/>
          <p:nvPr>
            <p:ph idx="4294967295" type="title"/>
          </p:nvPr>
        </p:nvSpPr>
        <p:spPr>
          <a:xfrm>
            <a:off x="979788" y="0"/>
            <a:ext cx="718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Backup n.2: DRC &amp; LVS Verification</a:t>
            </a:r>
            <a:endParaRPr/>
          </a:p>
        </p:txBody>
      </p:sp>
      <p:sp>
        <p:nvSpPr>
          <p:cNvPr id="497" name="Google Shape;497;p54"/>
          <p:cNvSpPr txBox="1"/>
          <p:nvPr>
            <p:ph idx="12" type="sldNum"/>
          </p:nvPr>
        </p:nvSpPr>
        <p:spPr>
          <a:xfrm>
            <a:off x="8595309" y="48413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98" name="Google Shape;498;p54" title="dr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664" y="780585"/>
            <a:ext cx="4154425" cy="372667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99" name="Google Shape;499;p54" title="lv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9200" y="1232098"/>
            <a:ext cx="3931137" cy="2790283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netics - Bachelor of Science in Biological Sciences by Slidesgo">
  <a:themeElements>
    <a:clrScheme name="Simple Light">
      <a:dk1>
        <a:srgbClr val="000000"/>
      </a:dk1>
      <a:lt1>
        <a:srgbClr val="F7F7F7"/>
      </a:lt1>
      <a:dk2>
        <a:srgbClr val="777676"/>
      </a:dk2>
      <a:lt2>
        <a:srgbClr val="6AA84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